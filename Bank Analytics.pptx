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759" r:id="rId4"/>
  </p:sldMasterIdLst>
  <p:notesMasterIdLst>
    <p:notesMasterId r:id="rId23"/>
  </p:notesMasterIdLst>
  <p:sldIdLst>
    <p:sldId id="256" r:id="rId5"/>
    <p:sldId id="258"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3" r:id="rId19"/>
    <p:sldId id="261" r:id="rId20"/>
    <p:sldId id="274" r:id="rId21"/>
    <p:sldId id="27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E0A0D5-8F98-4CC1-A28E-021F0B6B475C}" type="datetimeFigureOut">
              <a:rPr lang="en-US" smtClean="0"/>
              <a:t>10/5/2026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3C52C-5E29-41AF-BAA3-8217E886DA08}" type="slidenum">
              <a:rPr lang="en-US" smtClean="0"/>
              <a:t>‹#›</a:t>
            </a:fld>
            <a:endParaRPr lang="en-US" dirty="0"/>
          </a:p>
        </p:txBody>
      </p:sp>
    </p:spTree>
    <p:extLst>
      <p:ext uri="{BB962C8B-B14F-4D97-AF65-F5344CB8AC3E}">
        <p14:creationId xmlns:p14="http://schemas.microsoft.com/office/powerpoint/2010/main" val="1961961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3A750590-9F9A-443B-9295-A3931D8194B1}" type="datetime1">
              <a:rPr lang="en-US" smtClean="0"/>
              <a:t>10/5/2026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25397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75B4BE-627A-4EC1-99E1-6F1AA97AB802}" type="datetime1">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07566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78BFACF8-E63D-4673-A128-83547867BB7A}" type="datetime1">
              <a:rPr lang="en-US" smtClean="0"/>
              <a:t>10/5/2026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05886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BED6AC-4FBA-40BD-BE75-20DB64DA4BAD}" type="datetime1">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68562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933C87-D201-458A-93C0-8EDD9AC92D93}" type="datetime1">
              <a:rPr lang="en-US" smtClean="0"/>
              <a:t>10/5/2026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7876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CE6829-5A25-485A-91B1-5D6D58BB9F23}" type="datetime1">
              <a:rPr lang="en-US" smtClean="0"/>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50769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12F5CD-23D0-4DD1-85B1-71F1825FB3EC}" type="datetime1">
              <a:rPr lang="en-US" smtClean="0"/>
              <a:t>10/5/2026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10705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8BA5035-C284-496A-B076-BA73A8FA5D8B}" type="datetime1">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03269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40EB420-1875-490A-8C4B-7AAB939FBE08}" type="datetime1">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3231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35805F-452B-497C-9BD6-2CDB6902F369}" type="datetime1">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27362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D3F7C6B-C82D-4D42-9929-D6E7E11D9A64}" type="datetime1">
              <a:rPr lang="en-US" smtClean="0"/>
              <a:t>10/5/2026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96174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0CF4779-62E8-4B21-A5D7-0AFB9DBD4358}" type="datetime1">
              <a:rPr lang="en-US" smtClean="0"/>
              <a:t>10/5/2026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5044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F9D3375-5CD0-4576-BF96-ADFF24726FF8}" type="datetime1">
              <a:rPr lang="en-US" smtClean="0"/>
              <a:t>10/5/2026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32740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6FACD1F8-971E-4F8C-8737-750C12E93E08}" type="datetime1">
              <a:rPr lang="en-US" smtClean="0"/>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554211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C7D1621-FA30-4D98-85E5-1409E6BEECDC}" type="datetime1">
              <a:rPr lang="en-US" smtClean="0"/>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854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96F347-1B2F-4097-AEB5-4A26FB45D67A}" type="datetime1">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015761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8CC1DEE0-34E5-4E0F-BEC1-4B8835F82CD1}" type="datetime1">
              <a:rPr lang="en-US" smtClean="0"/>
              <a:t>10/5/2026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19312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359126-4846-4E88-BDD9-5585CC877E47}" type="datetime1">
              <a:rPr lang="en-US" smtClean="0"/>
              <a:t>10/5/2026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75502880"/>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5CD8D-E704-46A1-BC3E-9A644A9FFD4E}"/>
              </a:ext>
            </a:extLst>
          </p:cNvPr>
          <p:cNvSpPr>
            <a:spLocks noGrp="1"/>
          </p:cNvSpPr>
          <p:nvPr>
            <p:ph type="ctrTitle"/>
          </p:nvPr>
        </p:nvSpPr>
        <p:spPr>
          <a:xfrm>
            <a:off x="792484" y="690637"/>
            <a:ext cx="8517772" cy="5222117"/>
          </a:xfrm>
        </p:spPr>
        <p:txBody>
          <a:bodyPr anchor="ctr">
            <a:normAutofit/>
          </a:bodyPr>
          <a:lstStyle/>
          <a:p>
            <a:pPr algn="r"/>
            <a:r>
              <a:rPr lang="en-US" sz="5400" b="1" dirty="0">
                <a:latin typeface="Calibri" panose="020F0502020204030204" pitchFamily="34" charset="0"/>
                <a:cs typeface="Calibri" panose="020F0502020204030204" pitchFamily="34" charset="0"/>
              </a:rPr>
              <a:t>Bank Analytics</a:t>
            </a:r>
            <a:br>
              <a:rPr lang="en-US" sz="5400" b="1" dirty="0">
                <a:latin typeface="Calibri" panose="020F0502020204030204" pitchFamily="34" charset="0"/>
                <a:cs typeface="Calibri" panose="020F0502020204030204" pitchFamily="34" charset="0"/>
              </a:rPr>
            </a:br>
            <a:r>
              <a:rPr lang="en-IN" sz="1800" b="1" dirty="0">
                <a:solidFill>
                  <a:schemeClr val="accent5">
                    <a:lumMod val="75000"/>
                  </a:schemeClr>
                </a:solidFill>
                <a:latin typeface="Calibri" panose="020F0502020204030204" pitchFamily="34" charset="0"/>
                <a:cs typeface="Calibri" panose="020F0502020204030204" pitchFamily="34" charset="0"/>
              </a:rPr>
              <a:t>Analytics for Stakeholders</a:t>
            </a:r>
            <a:endParaRPr lang="en-US" sz="5400" b="1" dirty="0">
              <a:solidFill>
                <a:schemeClr val="accent5">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466494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7040" y="542304"/>
            <a:ext cx="8610600" cy="1293028"/>
          </a:xfrm>
        </p:spPr>
        <p:txBody>
          <a:bodyPr/>
          <a:lstStyle/>
          <a:p>
            <a:pPr algn="ctr"/>
            <a:r>
              <a:rPr lang="en-IN" b="1" dirty="0">
                <a:solidFill>
                  <a:srgbClr val="0070C0"/>
                </a:solidFill>
                <a:latin typeface="Calibri" panose="020F0502020204030204" pitchFamily="34" charset="0"/>
                <a:cs typeface="Calibri" panose="020F0502020204030204" pitchFamily="34" charset="0"/>
              </a:rPr>
              <a:t>Objective</a:t>
            </a:r>
          </a:p>
        </p:txBody>
      </p:sp>
      <p:sp>
        <p:nvSpPr>
          <p:cNvPr id="3" name="Content Placeholder 2"/>
          <p:cNvSpPr>
            <a:spLocks noGrp="1"/>
          </p:cNvSpPr>
          <p:nvPr>
            <p:ph idx="1"/>
          </p:nvPr>
        </p:nvSpPr>
        <p:spPr>
          <a:xfrm>
            <a:off x="254726" y="2142309"/>
            <a:ext cx="11342914" cy="4036422"/>
          </a:xfrm>
        </p:spPr>
        <p:txBody>
          <a:bodyPr/>
          <a:lstStyle/>
          <a:p>
            <a:pPr marL="0" indent="0" algn="just">
              <a:lnSpc>
                <a:spcPct val="200000"/>
              </a:lnSpc>
              <a:buNone/>
            </a:pPr>
            <a:r>
              <a:rPr lang="en-US" sz="2400" b="1" dirty="0">
                <a:latin typeface="Calibri" panose="020F0502020204030204" pitchFamily="34" charset="0"/>
                <a:cs typeface="Calibri" panose="020F0502020204030204" pitchFamily="34" charset="0"/>
              </a:rPr>
              <a:t>The objective of this project is to analyze banking data and create an interactive dashboard that helps stakeholders monitor bank performance, customer behavior, loan trends, and financial risks for better decision-making.</a:t>
            </a:r>
          </a:p>
          <a:p>
            <a:pPr marL="0" indent="0" algn="just">
              <a:lnSpc>
                <a:spcPct val="200000"/>
              </a:lnSpc>
              <a:buNone/>
            </a:pP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4917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9291" y="189608"/>
            <a:ext cx="8610600" cy="1293028"/>
          </a:xfrm>
        </p:spPr>
        <p:txBody>
          <a:bodyPr/>
          <a:lstStyle/>
          <a:p>
            <a:r>
              <a:rPr lang="en-IN" b="1" dirty="0">
                <a:solidFill>
                  <a:srgbClr val="0070C0"/>
                </a:solidFill>
                <a:latin typeface="Calibri" panose="020F0502020204030204" pitchFamily="34" charset="0"/>
                <a:cs typeface="Calibri" panose="020F0502020204030204" pitchFamily="34" charset="0"/>
              </a:rPr>
              <a:t>Problem</a:t>
            </a:r>
            <a:r>
              <a:rPr lang="en-IN" dirty="0"/>
              <a:t> </a:t>
            </a:r>
            <a:r>
              <a:rPr lang="en-IN" b="1" dirty="0">
                <a:solidFill>
                  <a:srgbClr val="0070C0"/>
                </a:solidFill>
                <a:latin typeface="Calibri" panose="020F0502020204030204" pitchFamily="34" charset="0"/>
                <a:cs typeface="Calibri" panose="020F0502020204030204" pitchFamily="34" charset="0"/>
              </a:rPr>
              <a:t>Statement</a:t>
            </a:r>
          </a:p>
        </p:txBody>
      </p:sp>
      <p:sp>
        <p:nvSpPr>
          <p:cNvPr id="3" name="Content Placeholder 2"/>
          <p:cNvSpPr>
            <a:spLocks noGrp="1"/>
          </p:cNvSpPr>
          <p:nvPr>
            <p:ph idx="1"/>
          </p:nvPr>
        </p:nvSpPr>
        <p:spPr>
          <a:xfrm>
            <a:off x="228599" y="1580606"/>
            <a:ext cx="11789229" cy="4924697"/>
          </a:xfrm>
        </p:spPr>
        <p:txBody>
          <a:bodyPr>
            <a:normAutofit/>
          </a:bodyPr>
          <a:lstStyle/>
          <a:p>
            <a:pPr marL="0" indent="0">
              <a:spcAft>
                <a:spcPts val="600"/>
              </a:spcAft>
              <a:buNone/>
            </a:pPr>
            <a:r>
              <a:rPr lang="en-US" sz="2400" b="1" dirty="0">
                <a:latin typeface="Calibri" panose="020F0502020204030204" pitchFamily="34" charset="0"/>
                <a:cs typeface="Calibri" panose="020F0502020204030204" pitchFamily="34" charset="0"/>
              </a:rPr>
              <a:t>Banks generate large volumes of customer and transaction data daily. However, without proper analysis, it becomes difficult for stakeholders to identify:</a:t>
            </a:r>
          </a:p>
          <a:p>
            <a:pPr>
              <a:spcAft>
                <a:spcPts val="600"/>
              </a:spcAft>
            </a:pPr>
            <a:r>
              <a:rPr lang="en-US" sz="2400" b="1" dirty="0">
                <a:latin typeface="Calibri" panose="020F0502020204030204" pitchFamily="34" charset="0"/>
                <a:cs typeface="Calibri" panose="020F0502020204030204" pitchFamily="34" charset="0"/>
              </a:rPr>
              <a:t>Loan default trends </a:t>
            </a:r>
          </a:p>
          <a:p>
            <a:pPr>
              <a:spcAft>
                <a:spcPts val="600"/>
              </a:spcAft>
            </a:pPr>
            <a:r>
              <a:rPr lang="en-US" sz="2400" b="1" dirty="0">
                <a:latin typeface="Calibri" panose="020F0502020204030204" pitchFamily="34" charset="0"/>
                <a:cs typeface="Calibri" panose="020F0502020204030204" pitchFamily="34" charset="0"/>
              </a:rPr>
              <a:t>Customer segmentation </a:t>
            </a:r>
          </a:p>
          <a:p>
            <a:pPr>
              <a:spcAft>
                <a:spcPts val="600"/>
              </a:spcAft>
            </a:pPr>
            <a:r>
              <a:rPr lang="en-US" sz="2400" b="1" dirty="0">
                <a:latin typeface="Calibri" panose="020F0502020204030204" pitchFamily="34" charset="0"/>
                <a:cs typeface="Calibri" panose="020F0502020204030204" pitchFamily="34" charset="0"/>
              </a:rPr>
              <a:t>Revenue performance </a:t>
            </a:r>
          </a:p>
          <a:p>
            <a:pPr>
              <a:spcAft>
                <a:spcPts val="600"/>
              </a:spcAft>
            </a:pPr>
            <a:r>
              <a:rPr lang="en-US" sz="2400" b="1" dirty="0">
                <a:latin typeface="Calibri" panose="020F0502020204030204" pitchFamily="34" charset="0"/>
                <a:cs typeface="Calibri" panose="020F0502020204030204" pitchFamily="34" charset="0"/>
              </a:rPr>
              <a:t>Branch-wise efficiency </a:t>
            </a:r>
          </a:p>
          <a:p>
            <a:pPr>
              <a:spcAft>
                <a:spcPts val="600"/>
              </a:spcAft>
            </a:pPr>
            <a:r>
              <a:rPr lang="en-US" sz="2400" b="1" dirty="0">
                <a:latin typeface="Calibri" panose="020F0502020204030204" pitchFamily="34" charset="0"/>
                <a:cs typeface="Calibri" panose="020F0502020204030204" pitchFamily="34" charset="0"/>
              </a:rPr>
              <a:t>Risky customers and loans </a:t>
            </a:r>
          </a:p>
          <a:p>
            <a:pPr>
              <a:spcAft>
                <a:spcPts val="600"/>
              </a:spcAft>
            </a:pPr>
            <a:r>
              <a:rPr lang="en-US" sz="2400" b="1" dirty="0">
                <a:latin typeface="Calibri" panose="020F0502020204030204" pitchFamily="34" charset="0"/>
                <a:cs typeface="Calibri" panose="020F0502020204030204" pitchFamily="34" charset="0"/>
              </a:rPr>
              <a:t>Overall business growth patterns </a:t>
            </a:r>
          </a:p>
          <a:p>
            <a:pPr marL="0" indent="0">
              <a:spcAft>
                <a:spcPts val="600"/>
              </a:spcAft>
              <a:buNone/>
            </a:pPr>
            <a:r>
              <a:rPr lang="en-US" sz="2400" b="1" dirty="0">
                <a:latin typeface="Calibri" panose="020F0502020204030204" pitchFamily="34" charset="0"/>
                <a:cs typeface="Calibri" panose="020F0502020204030204" pitchFamily="34" charset="0"/>
              </a:rPr>
              <a:t>This project aims to transform raw banking data into meaningful insights through analytics and dashboards.</a:t>
            </a:r>
          </a:p>
          <a:p>
            <a:pPr marL="0" indent="0">
              <a:spcAft>
                <a:spcPts val="600"/>
              </a:spcAft>
              <a:buNone/>
            </a:pPr>
            <a:endParaRPr lang="en-IN" dirty="0"/>
          </a:p>
        </p:txBody>
      </p:sp>
    </p:spTree>
    <p:extLst>
      <p:ext uri="{BB962C8B-B14F-4D97-AF65-F5344CB8AC3E}">
        <p14:creationId xmlns:p14="http://schemas.microsoft.com/office/powerpoint/2010/main" val="1040655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176545"/>
            <a:ext cx="8610600" cy="1293028"/>
          </a:xfrm>
        </p:spPr>
        <p:txBody>
          <a:bodyPr/>
          <a:lstStyle/>
          <a:p>
            <a:r>
              <a:rPr lang="en-IN" b="1" dirty="0">
                <a:solidFill>
                  <a:srgbClr val="0070C0"/>
                </a:solidFill>
                <a:latin typeface="Calibri" panose="020F0502020204030204" pitchFamily="34" charset="0"/>
                <a:cs typeface="Calibri" panose="020F0502020204030204" pitchFamily="34" charset="0"/>
              </a:rPr>
              <a:t>Data</a:t>
            </a:r>
            <a:r>
              <a:rPr lang="en-IN" dirty="0"/>
              <a:t> </a:t>
            </a:r>
            <a:r>
              <a:rPr lang="en-IN" b="1" dirty="0">
                <a:solidFill>
                  <a:srgbClr val="0070C0"/>
                </a:solidFill>
                <a:latin typeface="Calibri" panose="020F0502020204030204" pitchFamily="34" charset="0"/>
                <a:cs typeface="Calibri" panose="020F0502020204030204" pitchFamily="34" charset="0"/>
              </a:rPr>
              <a:t>Cleaning</a:t>
            </a:r>
            <a:r>
              <a:rPr lang="en-IN" dirty="0"/>
              <a:t> </a:t>
            </a:r>
            <a:r>
              <a:rPr lang="en-IN" b="1" dirty="0">
                <a:solidFill>
                  <a:srgbClr val="0070C0"/>
                </a:solidFill>
                <a:latin typeface="Calibri" panose="020F0502020204030204" pitchFamily="34" charset="0"/>
                <a:cs typeface="Calibri" panose="020F0502020204030204" pitchFamily="34" charset="0"/>
              </a:rPr>
              <a:t>Steps</a:t>
            </a:r>
          </a:p>
        </p:txBody>
      </p:sp>
      <p:sp>
        <p:nvSpPr>
          <p:cNvPr id="3" name="Content Placeholder 2"/>
          <p:cNvSpPr>
            <a:spLocks noGrp="1"/>
          </p:cNvSpPr>
          <p:nvPr>
            <p:ph idx="1"/>
          </p:nvPr>
        </p:nvSpPr>
        <p:spPr>
          <a:xfrm>
            <a:off x="189410" y="1469573"/>
            <a:ext cx="11763103" cy="5048793"/>
          </a:xfrm>
        </p:spPr>
        <p:txBody>
          <a:bodyPr>
            <a:noAutofit/>
          </a:bodyPr>
          <a:lstStyle/>
          <a:p>
            <a:pPr marL="0" indent="0">
              <a:spcAft>
                <a:spcPts val="600"/>
              </a:spcAft>
              <a:buNone/>
            </a:pPr>
            <a:r>
              <a:rPr lang="en-US" sz="2000" b="1" dirty="0">
                <a:latin typeface="Calibri" panose="020F0502020204030204" pitchFamily="34" charset="0"/>
                <a:cs typeface="Calibri" panose="020F0502020204030204" pitchFamily="34" charset="0"/>
              </a:rPr>
              <a:t>1. Removed rows containing missing/null values in important columns.</a:t>
            </a:r>
          </a:p>
          <a:p>
            <a:pPr marL="0" indent="0">
              <a:spcAft>
                <a:spcPts val="600"/>
              </a:spcAft>
              <a:buNone/>
            </a:pPr>
            <a:r>
              <a:rPr lang="en-US" sz="2000" b="1" dirty="0">
                <a:latin typeface="Calibri" panose="020F0502020204030204" pitchFamily="34" charset="0"/>
                <a:cs typeface="Calibri" panose="020F0502020204030204" pitchFamily="34" charset="0"/>
              </a:rPr>
              <a:t>2. Removed empty columns that contained no useful data.</a:t>
            </a:r>
          </a:p>
          <a:p>
            <a:pPr marL="0" indent="0">
              <a:spcAft>
                <a:spcPts val="600"/>
              </a:spcAft>
              <a:buNone/>
            </a:pPr>
            <a:r>
              <a:rPr lang="en-US" sz="2000" b="1" dirty="0">
                <a:latin typeface="Calibri" panose="020F0502020204030204" pitchFamily="34" charset="0"/>
                <a:cs typeface="Calibri" panose="020F0502020204030204" pitchFamily="34" charset="0"/>
              </a:rPr>
              <a:t>3. Removed the State </a:t>
            </a:r>
            <a:r>
              <a:rPr lang="en-US" sz="2000" b="1" dirty="0" err="1">
                <a:latin typeface="Calibri" panose="020F0502020204030204" pitchFamily="34" charset="0"/>
                <a:cs typeface="Calibri" panose="020F0502020204030204" pitchFamily="34" charset="0"/>
              </a:rPr>
              <a:t>Abbr</a:t>
            </a:r>
            <a:r>
              <a:rPr lang="en-US" sz="2000" b="1" dirty="0">
                <a:latin typeface="Calibri" panose="020F0502020204030204" pitchFamily="34" charset="0"/>
                <a:cs typeface="Calibri" panose="020F0502020204030204" pitchFamily="34" charset="0"/>
              </a:rPr>
              <a:t> column as it was duplicated information of the State </a:t>
            </a:r>
            <a:r>
              <a:rPr lang="en-US" sz="2000" b="1" dirty="0" err="1">
                <a:latin typeface="Calibri" panose="020F0502020204030204" pitchFamily="34" charset="0"/>
                <a:cs typeface="Calibri" panose="020F0502020204030204" pitchFamily="34" charset="0"/>
              </a:rPr>
              <a:t>abbr</a:t>
            </a:r>
            <a:r>
              <a:rPr lang="en-US" sz="2000" b="1" dirty="0">
                <a:latin typeface="Calibri" panose="020F0502020204030204" pitchFamily="34" charset="0"/>
                <a:cs typeface="Calibri" panose="020F0502020204030204" pitchFamily="34" charset="0"/>
              </a:rPr>
              <a:t> column.</a:t>
            </a:r>
          </a:p>
          <a:p>
            <a:pPr marL="0" indent="0">
              <a:spcAft>
                <a:spcPts val="600"/>
              </a:spcAft>
              <a:buNone/>
            </a:pPr>
            <a:r>
              <a:rPr lang="en-US" sz="2000" b="1" dirty="0">
                <a:latin typeface="Calibri" panose="020F0502020204030204" pitchFamily="34" charset="0"/>
                <a:cs typeface="Calibri" panose="020F0502020204030204" pitchFamily="34" charset="0"/>
              </a:rPr>
              <a:t>4. Replaced null values in BH Name with "Unknown".</a:t>
            </a:r>
          </a:p>
          <a:p>
            <a:pPr marL="0" indent="0">
              <a:spcAft>
                <a:spcPts val="600"/>
              </a:spcAft>
              <a:buNone/>
            </a:pPr>
            <a:r>
              <a:rPr lang="en-US" sz="2000" b="1" dirty="0">
                <a:latin typeface="Calibri" panose="020F0502020204030204" pitchFamily="34" charset="0"/>
                <a:cs typeface="Calibri" panose="020F0502020204030204" pitchFamily="34" charset="0"/>
              </a:rPr>
              <a:t>5. Replaced null values in Caste with "Unknown".</a:t>
            </a:r>
          </a:p>
          <a:p>
            <a:pPr marL="0" indent="0">
              <a:spcAft>
                <a:spcPts val="600"/>
              </a:spcAft>
              <a:buNone/>
            </a:pPr>
            <a:r>
              <a:rPr lang="en-US" sz="2000" b="1" dirty="0">
                <a:latin typeface="Calibri" panose="020F0502020204030204" pitchFamily="34" charset="0"/>
                <a:cs typeface="Calibri" panose="020F0502020204030204" pitchFamily="34" charset="0"/>
              </a:rPr>
              <a:t>6. Replaced null values in Credit Officer Name with "Unknown".</a:t>
            </a:r>
          </a:p>
          <a:p>
            <a:pPr marL="0" indent="0">
              <a:spcAft>
                <a:spcPts val="600"/>
              </a:spcAft>
              <a:buNone/>
            </a:pPr>
            <a:r>
              <a:rPr lang="en-US" sz="2000" b="1" dirty="0">
                <a:latin typeface="Calibri" panose="020F0502020204030204" pitchFamily="34" charset="0"/>
                <a:cs typeface="Calibri" panose="020F0502020204030204" pitchFamily="34" charset="0"/>
              </a:rPr>
              <a:t>7. Replaced null values in </a:t>
            </a:r>
            <a:r>
              <a:rPr lang="en-US" sz="2000" b="1" dirty="0" err="1">
                <a:latin typeface="Calibri" panose="020F0502020204030204" pitchFamily="34" charset="0"/>
                <a:cs typeface="Calibri" panose="020F0502020204030204" pitchFamily="34" charset="0"/>
              </a:rPr>
              <a:t>Disb</a:t>
            </a:r>
            <a:r>
              <a:rPr lang="en-US" sz="2000" b="1" dirty="0">
                <a:latin typeface="Calibri" panose="020F0502020204030204" pitchFamily="34" charset="0"/>
                <a:cs typeface="Calibri" panose="020F0502020204030204" pitchFamily="34" charset="0"/>
              </a:rPr>
              <a:t> By with "Unknown".</a:t>
            </a:r>
          </a:p>
          <a:p>
            <a:pPr marL="0" indent="0">
              <a:spcAft>
                <a:spcPts val="600"/>
              </a:spcAft>
              <a:buNone/>
            </a:pPr>
            <a:r>
              <a:rPr lang="en-US" sz="2000" b="1" dirty="0">
                <a:latin typeface="Calibri" panose="020F0502020204030204" pitchFamily="34" charset="0"/>
                <a:cs typeface="Calibri" panose="020F0502020204030204" pitchFamily="34" charset="0"/>
              </a:rPr>
              <a:t>8. Converted Closed Date column to proper date format.</a:t>
            </a:r>
          </a:p>
          <a:p>
            <a:pPr marL="0" indent="0">
              <a:spcAft>
                <a:spcPts val="600"/>
              </a:spcAft>
              <a:buNone/>
            </a:pPr>
            <a:r>
              <a:rPr lang="en-US" sz="2000" b="1" dirty="0">
                <a:latin typeface="Calibri" panose="020F0502020204030204" pitchFamily="34" charset="0"/>
                <a:cs typeface="Calibri" panose="020F0502020204030204" pitchFamily="34" charset="0"/>
              </a:rPr>
              <a:t>9. Converted Date of Birth column to proper date format.</a:t>
            </a:r>
          </a:p>
          <a:p>
            <a:pPr marL="0" indent="0">
              <a:spcAft>
                <a:spcPts val="600"/>
              </a:spcAft>
              <a:buNone/>
            </a:pPr>
            <a:r>
              <a:rPr lang="en-US" sz="2000" b="1" dirty="0">
                <a:latin typeface="Calibri" panose="020F0502020204030204" pitchFamily="34" charset="0"/>
                <a:cs typeface="Calibri" panose="020F0502020204030204" pitchFamily="34" charset="0"/>
              </a:rPr>
              <a:t>10. Converted Disbursement Date column to proper date format.</a:t>
            </a:r>
          </a:p>
          <a:p>
            <a:pPr marL="0" indent="0">
              <a:spcAft>
                <a:spcPts val="600"/>
              </a:spcAft>
              <a:buNone/>
            </a:pPr>
            <a:r>
              <a:rPr lang="en-US" sz="2000" b="1" dirty="0">
                <a:latin typeface="Calibri" panose="020F0502020204030204" pitchFamily="34" charset="0"/>
                <a:cs typeface="Calibri" panose="020F0502020204030204" pitchFamily="34" charset="0"/>
              </a:rPr>
              <a:t>11. Replaced "state names" in State name column full state names for better readability and consistency.</a:t>
            </a:r>
            <a:endParaRPr lang="en-IN"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44816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7486" y="103407"/>
            <a:ext cx="8610600" cy="1092632"/>
          </a:xfrm>
        </p:spPr>
        <p:txBody>
          <a:bodyPr/>
          <a:lstStyle/>
          <a:p>
            <a:r>
              <a:rPr lang="en-US" b="1" dirty="0">
                <a:solidFill>
                  <a:srgbClr val="0070C0"/>
                </a:solidFill>
                <a:latin typeface="Calibri" panose="020F0502020204030204" pitchFamily="34" charset="0"/>
                <a:cs typeface="Calibri" panose="020F0502020204030204" pitchFamily="34" charset="0"/>
              </a:rPr>
              <a:t>Calculated</a:t>
            </a:r>
            <a:r>
              <a:rPr lang="en-US" dirty="0"/>
              <a:t> </a:t>
            </a:r>
            <a:r>
              <a:rPr lang="en-US" b="1" dirty="0">
                <a:solidFill>
                  <a:srgbClr val="0070C0"/>
                </a:solidFill>
                <a:latin typeface="Calibri" panose="020F0502020204030204" pitchFamily="34" charset="0"/>
                <a:cs typeface="Calibri" panose="020F0502020204030204" pitchFamily="34" charset="0"/>
              </a:rPr>
              <a:t>Field</a:t>
            </a:r>
            <a:endParaRPr lang="en-IN" b="1" dirty="0">
              <a:solidFill>
                <a:srgbClr val="0070C0"/>
              </a:solidFill>
              <a:latin typeface="Calibri" panose="020F0502020204030204" pitchFamily="34" charset="0"/>
              <a:cs typeface="Calibri" panose="020F0502020204030204" pitchFamily="34" charset="0"/>
            </a:endParaRPr>
          </a:p>
        </p:txBody>
      </p:sp>
      <p:sp>
        <p:nvSpPr>
          <p:cNvPr id="5" name="Rectangle 4"/>
          <p:cNvSpPr/>
          <p:nvPr/>
        </p:nvSpPr>
        <p:spPr>
          <a:xfrm>
            <a:off x="0" y="1487777"/>
            <a:ext cx="8353969"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Total Loan Amount Funded: Measures the total value of loans disbursed.</a:t>
            </a:r>
          </a:p>
        </p:txBody>
      </p:sp>
      <p:sp>
        <p:nvSpPr>
          <p:cNvPr id="6" name="Rectangle 5"/>
          <p:cNvSpPr/>
          <p:nvPr/>
        </p:nvSpPr>
        <p:spPr>
          <a:xfrm>
            <a:off x="48217" y="3090383"/>
            <a:ext cx="4675319" cy="369332"/>
          </a:xfrm>
          <a:prstGeom prst="rect">
            <a:avLst/>
          </a:prstGeom>
        </p:spPr>
        <p:txBody>
          <a:bodyPr wrap="none">
            <a:spAutoFit/>
          </a:bodyPr>
          <a:lstStyle/>
          <a:p>
            <a:r>
              <a:rPr lang="en-IN" b="1" dirty="0">
                <a:solidFill>
                  <a:srgbClr val="990099"/>
                </a:solidFill>
                <a:latin typeface="Calibri" panose="020F0502020204030204" pitchFamily="34" charset="0"/>
                <a:cs typeface="Calibri" panose="020F0502020204030204" pitchFamily="34" charset="0"/>
              </a:rPr>
              <a:t>Total</a:t>
            </a:r>
            <a:r>
              <a:rPr lang="en-IN" dirty="0"/>
              <a:t> </a:t>
            </a:r>
            <a:r>
              <a:rPr lang="en-IN" b="1" dirty="0">
                <a:solidFill>
                  <a:srgbClr val="990099"/>
                </a:solidFill>
                <a:latin typeface="Calibri" panose="020F0502020204030204" pitchFamily="34" charset="0"/>
                <a:cs typeface="Calibri" panose="020F0502020204030204" pitchFamily="34" charset="0"/>
              </a:rPr>
              <a:t>Loans: Tracks the number of loans issued.</a:t>
            </a:r>
          </a:p>
        </p:txBody>
      </p:sp>
      <p:pic>
        <p:nvPicPr>
          <p:cNvPr id="8" name="Picture 7"/>
          <p:cNvPicPr>
            <a:picLocks noChangeAspect="1"/>
          </p:cNvPicPr>
          <p:nvPr/>
        </p:nvPicPr>
        <p:blipFill>
          <a:blip r:embed="rId2"/>
          <a:stretch>
            <a:fillRect/>
          </a:stretch>
        </p:blipFill>
        <p:spPr>
          <a:xfrm>
            <a:off x="10386059" y="1196039"/>
            <a:ext cx="1670958" cy="1605430"/>
          </a:xfrm>
          <a:prstGeom prst="rect">
            <a:avLst/>
          </a:prstGeom>
        </p:spPr>
      </p:pic>
      <p:pic>
        <p:nvPicPr>
          <p:cNvPr id="9" name="Picture 8"/>
          <p:cNvPicPr>
            <a:picLocks noChangeAspect="1"/>
          </p:cNvPicPr>
          <p:nvPr/>
        </p:nvPicPr>
        <p:blipFill>
          <a:blip r:embed="rId3"/>
          <a:stretch>
            <a:fillRect/>
          </a:stretch>
        </p:blipFill>
        <p:spPr>
          <a:xfrm>
            <a:off x="10386059" y="3129323"/>
            <a:ext cx="1725114" cy="1725114"/>
          </a:xfrm>
          <a:prstGeom prst="rect">
            <a:avLst/>
          </a:prstGeom>
        </p:spPr>
      </p:pic>
      <p:pic>
        <p:nvPicPr>
          <p:cNvPr id="10" name="Picture 9"/>
          <p:cNvPicPr>
            <a:picLocks noChangeAspect="1"/>
          </p:cNvPicPr>
          <p:nvPr/>
        </p:nvPicPr>
        <p:blipFill>
          <a:blip r:embed="rId4"/>
          <a:stretch>
            <a:fillRect/>
          </a:stretch>
        </p:blipFill>
        <p:spPr>
          <a:xfrm>
            <a:off x="10358981" y="5147820"/>
            <a:ext cx="1725114" cy="1707689"/>
          </a:xfrm>
          <a:prstGeom prst="rect">
            <a:avLst/>
          </a:prstGeom>
        </p:spPr>
      </p:pic>
      <p:sp>
        <p:nvSpPr>
          <p:cNvPr id="11" name="Rectangle 10"/>
          <p:cNvSpPr/>
          <p:nvPr/>
        </p:nvSpPr>
        <p:spPr>
          <a:xfrm>
            <a:off x="13424" y="4650746"/>
            <a:ext cx="8917578"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Total Collection: Reflects repayment performance, including principal and interest.</a:t>
            </a:r>
          </a:p>
        </p:txBody>
      </p:sp>
      <p:sp>
        <p:nvSpPr>
          <p:cNvPr id="3" name="Rectangle 2"/>
          <p:cNvSpPr/>
          <p:nvPr/>
        </p:nvSpPr>
        <p:spPr>
          <a:xfrm>
            <a:off x="222432" y="1915826"/>
            <a:ext cx="9966597" cy="1061829"/>
          </a:xfrm>
          <a:prstGeom prst="rect">
            <a:avLst/>
          </a:prstGeom>
        </p:spPr>
        <p:txBody>
          <a:bodyPr wrap="square">
            <a:spAutoFit/>
          </a:bodyPr>
          <a:lstStyle/>
          <a:p>
            <a:pPr algn="just">
              <a:lnSpc>
                <a:spcPct val="150000"/>
              </a:lnSpc>
            </a:pPr>
            <a:r>
              <a:rPr lang="en-US" sz="1400" b="1" dirty="0">
                <a:latin typeface="Calibri" panose="020F0502020204030204" pitchFamily="34" charset="0"/>
                <a:cs typeface="Calibri" panose="020F0502020204030204" pitchFamily="34" charset="0"/>
              </a:rPr>
              <a:t>Total Loan Amount Funded represents the overall amount of money disbursed by the bank to customers as loans</a:t>
            </a:r>
          </a:p>
          <a:p>
            <a:pPr algn="just">
              <a:lnSpc>
                <a:spcPct val="150000"/>
              </a:lnSpc>
            </a:pPr>
            <a:r>
              <a:rPr lang="en-US" sz="1400" b="1" dirty="0">
                <a:latin typeface="Calibri" panose="020F0502020204030204" pitchFamily="34" charset="0"/>
                <a:cs typeface="Calibri" panose="020F0502020204030204" pitchFamily="34" charset="0"/>
              </a:rPr>
              <a:t>It helps stakeholders understand the bank’s lending activity and overall business performance. </a:t>
            </a:r>
          </a:p>
          <a:p>
            <a:pPr algn="just">
              <a:lnSpc>
                <a:spcPct val="150000"/>
              </a:lnSpc>
            </a:pPr>
            <a:r>
              <a:rPr lang="en-US" sz="1400" b="1" dirty="0">
                <a:latin typeface="Calibri" panose="020F0502020204030204" pitchFamily="34" charset="0"/>
                <a:cs typeface="Calibri" panose="020F0502020204030204" pitchFamily="34" charset="0"/>
              </a:rPr>
              <a:t>Sum (Funded Amount)</a:t>
            </a:r>
          </a:p>
        </p:txBody>
      </p:sp>
      <p:sp>
        <p:nvSpPr>
          <p:cNvPr id="4" name="Rectangle 3"/>
          <p:cNvSpPr/>
          <p:nvPr/>
        </p:nvSpPr>
        <p:spPr>
          <a:xfrm>
            <a:off x="222432" y="3466180"/>
            <a:ext cx="9862094" cy="1061829"/>
          </a:xfrm>
          <a:prstGeom prst="rect">
            <a:avLst/>
          </a:prstGeom>
        </p:spPr>
        <p:txBody>
          <a:bodyPr wrap="square">
            <a:spAutoFit/>
          </a:bodyPr>
          <a:lstStyle/>
          <a:p>
            <a:pPr algn="just">
              <a:lnSpc>
                <a:spcPct val="150000"/>
              </a:lnSpc>
            </a:pPr>
            <a:r>
              <a:rPr lang="en-US" sz="1400" b="1" dirty="0">
                <a:latin typeface="Calibri" panose="020F0502020204030204" pitchFamily="34" charset="0"/>
                <a:cs typeface="Calibri" panose="020F0502020204030204" pitchFamily="34" charset="0"/>
              </a:rPr>
              <a:t>Total Loans represents the total number of loans issued or approved by the bank during a specific period.</a:t>
            </a:r>
          </a:p>
          <a:p>
            <a:pPr algn="just">
              <a:lnSpc>
                <a:spcPct val="150000"/>
              </a:lnSpc>
            </a:pPr>
            <a:r>
              <a:rPr lang="en-US" sz="1400" b="1" dirty="0">
                <a:latin typeface="Calibri" panose="020F0502020204030204" pitchFamily="34" charset="0"/>
                <a:cs typeface="Calibri" panose="020F0502020204030204" pitchFamily="34" charset="0"/>
              </a:rPr>
              <a:t>It is calculated by counting the total loan entries in the dataset.</a:t>
            </a:r>
          </a:p>
          <a:p>
            <a:pPr algn="just">
              <a:lnSpc>
                <a:spcPct val="150000"/>
              </a:lnSpc>
            </a:pPr>
            <a:r>
              <a:rPr lang="en-IN" sz="1400" b="1" dirty="0">
                <a:latin typeface="Calibri" panose="020F0502020204030204" pitchFamily="34" charset="0"/>
                <a:cs typeface="Calibri" panose="020F0502020204030204" pitchFamily="34" charset="0"/>
              </a:rPr>
              <a:t>Total Loans = COUNT([Account ID])</a:t>
            </a:r>
          </a:p>
        </p:txBody>
      </p:sp>
      <p:sp>
        <p:nvSpPr>
          <p:cNvPr id="7" name="Rectangle 6"/>
          <p:cNvSpPr/>
          <p:nvPr/>
        </p:nvSpPr>
        <p:spPr>
          <a:xfrm>
            <a:off x="249596" y="5078794"/>
            <a:ext cx="9834930" cy="1708160"/>
          </a:xfrm>
          <a:prstGeom prst="rect">
            <a:avLst/>
          </a:prstGeom>
        </p:spPr>
        <p:txBody>
          <a:bodyPr wrap="square">
            <a:spAutoFit/>
          </a:bodyPr>
          <a:lstStyle/>
          <a:p>
            <a:pPr algn="just">
              <a:lnSpc>
                <a:spcPct val="150000"/>
              </a:lnSpc>
            </a:pPr>
            <a:r>
              <a:rPr lang="en-US" sz="1400" b="1" dirty="0">
                <a:latin typeface="Calibri" panose="020F0502020204030204" pitchFamily="34" charset="0"/>
                <a:cs typeface="Calibri" panose="020F0502020204030204" pitchFamily="34" charset="0"/>
              </a:rPr>
              <a:t>Total Collection represents the total amount recovered by the bank from customers against issued loans. It includes:</a:t>
            </a:r>
          </a:p>
          <a:p>
            <a:pPr algn="just">
              <a:lnSpc>
                <a:spcPct val="150000"/>
              </a:lnSpc>
            </a:pPr>
            <a:r>
              <a:rPr lang="en-US" sz="1400" b="1" dirty="0">
                <a:latin typeface="Calibri" panose="020F0502020204030204" pitchFamily="34" charset="0"/>
                <a:cs typeface="Calibri" panose="020F0502020204030204" pitchFamily="34" charset="0"/>
              </a:rPr>
              <a:t>Principal Amount Repayment </a:t>
            </a:r>
          </a:p>
          <a:p>
            <a:pPr algn="just">
              <a:lnSpc>
                <a:spcPct val="150000"/>
              </a:lnSpc>
            </a:pPr>
            <a:r>
              <a:rPr lang="en-US" sz="1400" b="1" dirty="0">
                <a:latin typeface="Calibri" panose="020F0502020204030204" pitchFamily="34" charset="0"/>
                <a:cs typeface="Calibri" panose="020F0502020204030204" pitchFamily="34" charset="0"/>
              </a:rPr>
              <a:t>Interest Amount Payment </a:t>
            </a:r>
          </a:p>
          <a:p>
            <a:pPr algn="just">
              <a:lnSpc>
                <a:spcPct val="150000"/>
              </a:lnSpc>
            </a:pPr>
            <a:r>
              <a:rPr lang="en-US" sz="1400" b="1" dirty="0">
                <a:latin typeface="Calibri" panose="020F0502020204030204" pitchFamily="34" charset="0"/>
                <a:cs typeface="Calibri" panose="020F0502020204030204" pitchFamily="34" charset="0"/>
              </a:rPr>
              <a:t>This KPI helps measure the bank’s repayment and recovery performance.</a:t>
            </a:r>
          </a:p>
          <a:p>
            <a:pPr algn="just">
              <a:lnSpc>
                <a:spcPct val="150000"/>
              </a:lnSpc>
            </a:pPr>
            <a:r>
              <a:rPr lang="en-US" sz="1400" b="1" dirty="0">
                <a:latin typeface="Calibri" panose="020F0502020204030204" pitchFamily="34" charset="0"/>
                <a:cs typeface="Calibri" panose="020F0502020204030204" pitchFamily="34" charset="0"/>
              </a:rPr>
              <a:t>SUM([Total Rec </a:t>
            </a:r>
            <a:r>
              <a:rPr lang="en-US" sz="1400" b="1" dirty="0" err="1">
                <a:latin typeface="Calibri" panose="020F0502020204030204" pitchFamily="34" charset="0"/>
                <a:cs typeface="Calibri" panose="020F0502020204030204" pitchFamily="34" charset="0"/>
              </a:rPr>
              <a:t>Prncp</a:t>
            </a:r>
            <a:r>
              <a:rPr lang="en-US" sz="1400" b="1" dirty="0">
                <a:latin typeface="Calibri" panose="020F0502020204030204" pitchFamily="34" charset="0"/>
                <a:cs typeface="Calibri" panose="020F0502020204030204" pitchFamily="34" charset="0"/>
              </a:rPr>
              <a:t>]) + SUM([Total </a:t>
            </a:r>
            <a:r>
              <a:rPr lang="en-US" sz="1400" b="1" dirty="0" err="1">
                <a:latin typeface="Calibri" panose="020F0502020204030204" pitchFamily="34" charset="0"/>
                <a:cs typeface="Calibri" panose="020F0502020204030204" pitchFamily="34" charset="0"/>
              </a:rPr>
              <a:t>Rrec</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int</a:t>
            </a:r>
            <a:r>
              <a:rPr lang="en-US" sz="1400" b="1" dirty="0">
                <a:latin typeface="Calibri" panose="020F0502020204030204" pitchFamily="34" charset="0"/>
                <a:cs typeface="Calibri" panose="020F0502020204030204" pitchFamily="34" charset="0"/>
              </a:rPr>
              <a:t>])</a:t>
            </a:r>
            <a:endParaRPr lang="en-IN" sz="14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3177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34" y="0"/>
            <a:ext cx="8610600" cy="1293028"/>
          </a:xfrm>
        </p:spPr>
        <p:txBody>
          <a:bodyPr/>
          <a:lstStyle/>
          <a:p>
            <a:r>
              <a:rPr lang="en-US" b="1" dirty="0">
                <a:solidFill>
                  <a:srgbClr val="0070C0"/>
                </a:solidFill>
                <a:latin typeface="Calibri" panose="020F0502020204030204" pitchFamily="34" charset="0"/>
                <a:cs typeface="Calibri" panose="020F0502020204030204" pitchFamily="34" charset="0"/>
              </a:rPr>
              <a:t>Calculated</a:t>
            </a:r>
            <a:r>
              <a:rPr lang="en-US" dirty="0"/>
              <a:t> </a:t>
            </a:r>
            <a:r>
              <a:rPr lang="en-US" b="1" dirty="0">
                <a:solidFill>
                  <a:srgbClr val="0070C0"/>
                </a:solidFill>
                <a:latin typeface="Calibri" panose="020F0502020204030204" pitchFamily="34" charset="0"/>
                <a:cs typeface="Calibri" panose="020F0502020204030204" pitchFamily="34" charset="0"/>
              </a:rPr>
              <a:t>Field</a:t>
            </a:r>
            <a:endParaRPr lang="en-IN" b="1" dirty="0">
              <a:solidFill>
                <a:srgbClr val="0070C0"/>
              </a:solidFill>
              <a:latin typeface="Calibri" panose="020F0502020204030204" pitchFamily="34" charset="0"/>
              <a:cs typeface="Calibri" panose="020F0502020204030204" pitchFamily="34" charset="0"/>
            </a:endParaRPr>
          </a:p>
        </p:txBody>
      </p:sp>
      <p:sp>
        <p:nvSpPr>
          <p:cNvPr id="3" name="Rectangle 2"/>
          <p:cNvSpPr/>
          <p:nvPr/>
        </p:nvSpPr>
        <p:spPr>
          <a:xfrm>
            <a:off x="0" y="1408387"/>
            <a:ext cx="5081904" cy="369332"/>
          </a:xfrm>
          <a:prstGeom prst="rect">
            <a:avLst/>
          </a:prstGeom>
        </p:spPr>
        <p:txBody>
          <a:bodyPr wrap="none">
            <a:spAutoFit/>
          </a:bodyPr>
          <a:lstStyle/>
          <a:p>
            <a:r>
              <a:rPr lang="en-IN" b="1" dirty="0">
                <a:solidFill>
                  <a:srgbClr val="990099"/>
                </a:solidFill>
                <a:latin typeface="Calibri" panose="020F0502020204030204" pitchFamily="34" charset="0"/>
                <a:cs typeface="Calibri" panose="020F0502020204030204" pitchFamily="34" charset="0"/>
              </a:rPr>
              <a:t>Total</a:t>
            </a:r>
            <a:r>
              <a:rPr lang="en-IN" dirty="0"/>
              <a:t> </a:t>
            </a:r>
            <a:r>
              <a:rPr lang="en-IN" b="1" dirty="0">
                <a:solidFill>
                  <a:srgbClr val="990099"/>
                </a:solidFill>
                <a:latin typeface="Calibri" panose="020F0502020204030204" pitchFamily="34" charset="0"/>
                <a:cs typeface="Calibri" panose="020F0502020204030204" pitchFamily="34" charset="0"/>
              </a:rPr>
              <a:t>Interest: Captures revenue from loan interest.</a:t>
            </a:r>
          </a:p>
        </p:txBody>
      </p:sp>
      <p:pic>
        <p:nvPicPr>
          <p:cNvPr id="4" name="Picture 3"/>
          <p:cNvPicPr>
            <a:picLocks noChangeAspect="1"/>
          </p:cNvPicPr>
          <p:nvPr/>
        </p:nvPicPr>
        <p:blipFill>
          <a:blip r:embed="rId2"/>
          <a:stretch>
            <a:fillRect/>
          </a:stretch>
        </p:blipFill>
        <p:spPr>
          <a:xfrm>
            <a:off x="10279924" y="1293028"/>
            <a:ext cx="1565910" cy="1534592"/>
          </a:xfrm>
          <a:prstGeom prst="rect">
            <a:avLst/>
          </a:prstGeom>
        </p:spPr>
      </p:pic>
      <p:sp>
        <p:nvSpPr>
          <p:cNvPr id="7" name="Rectangle 6"/>
          <p:cNvSpPr/>
          <p:nvPr/>
        </p:nvSpPr>
        <p:spPr>
          <a:xfrm>
            <a:off x="0" y="3020435"/>
            <a:ext cx="4388766" cy="369332"/>
          </a:xfrm>
          <a:prstGeom prst="rect">
            <a:avLst/>
          </a:prstGeom>
        </p:spPr>
        <p:txBody>
          <a:bodyPr wrap="none">
            <a:spAutoFit/>
          </a:bodyPr>
          <a:lstStyle/>
          <a:p>
            <a:r>
              <a:rPr lang="en-IN" b="1" dirty="0">
                <a:solidFill>
                  <a:srgbClr val="990099"/>
                </a:solidFill>
                <a:latin typeface="Calibri" panose="020F0502020204030204" pitchFamily="34" charset="0"/>
                <a:cs typeface="Calibri" panose="020F0502020204030204" pitchFamily="34" charset="0"/>
              </a:rPr>
              <a:t>Default Loan Count: Counts loans in default.</a:t>
            </a:r>
          </a:p>
        </p:txBody>
      </p:sp>
      <p:pic>
        <p:nvPicPr>
          <p:cNvPr id="12" name="Picture 11"/>
          <p:cNvPicPr>
            <a:picLocks noChangeAspect="1"/>
          </p:cNvPicPr>
          <p:nvPr/>
        </p:nvPicPr>
        <p:blipFill>
          <a:blip r:embed="rId3"/>
          <a:stretch>
            <a:fillRect/>
          </a:stretch>
        </p:blipFill>
        <p:spPr>
          <a:xfrm>
            <a:off x="10279924" y="3158623"/>
            <a:ext cx="1610456" cy="1478691"/>
          </a:xfrm>
          <a:prstGeom prst="rect">
            <a:avLst/>
          </a:prstGeom>
        </p:spPr>
      </p:pic>
      <p:sp>
        <p:nvSpPr>
          <p:cNvPr id="13" name="Rectangle 12"/>
          <p:cNvSpPr/>
          <p:nvPr/>
        </p:nvSpPr>
        <p:spPr>
          <a:xfrm>
            <a:off x="27702" y="5020927"/>
            <a:ext cx="8722128"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Default Loan Rate: Proportion of defaulted loans to the total portfolio.</a:t>
            </a:r>
          </a:p>
        </p:txBody>
      </p:sp>
      <p:pic>
        <p:nvPicPr>
          <p:cNvPr id="14" name="Picture 13"/>
          <p:cNvPicPr>
            <a:picLocks noChangeAspect="1"/>
          </p:cNvPicPr>
          <p:nvPr/>
        </p:nvPicPr>
        <p:blipFill>
          <a:blip r:embed="rId4"/>
          <a:stretch>
            <a:fillRect/>
          </a:stretch>
        </p:blipFill>
        <p:spPr>
          <a:xfrm>
            <a:off x="10279924" y="5053216"/>
            <a:ext cx="1565910" cy="1550406"/>
          </a:xfrm>
          <a:prstGeom prst="rect">
            <a:avLst/>
          </a:prstGeom>
        </p:spPr>
      </p:pic>
      <p:sp>
        <p:nvSpPr>
          <p:cNvPr id="5" name="Rectangle 4"/>
          <p:cNvSpPr/>
          <p:nvPr/>
        </p:nvSpPr>
        <p:spPr>
          <a:xfrm>
            <a:off x="330429" y="1813867"/>
            <a:ext cx="9741033" cy="1061829"/>
          </a:xfrm>
          <a:prstGeom prst="rect">
            <a:avLst/>
          </a:prstGeom>
        </p:spPr>
        <p:txBody>
          <a:bodyPr wrap="square">
            <a:spAutoFit/>
          </a:bodyPr>
          <a:lstStyle/>
          <a:p>
            <a:pPr algn="just">
              <a:lnSpc>
                <a:spcPct val="150000"/>
              </a:lnSpc>
            </a:pPr>
            <a:r>
              <a:rPr lang="en-US" sz="1400" b="1" dirty="0">
                <a:latin typeface="Calibri" panose="020F0502020204030204" pitchFamily="34" charset="0"/>
                <a:cs typeface="Calibri" panose="020F0502020204030204" pitchFamily="34" charset="0"/>
              </a:rPr>
              <a:t>Total Interest represents the total revenue earned by the bank from the interest charged on loans provided to customers.</a:t>
            </a:r>
          </a:p>
          <a:p>
            <a:pPr algn="just">
              <a:lnSpc>
                <a:spcPct val="150000"/>
              </a:lnSpc>
            </a:pPr>
            <a:r>
              <a:rPr lang="en-US" sz="1400" b="1" dirty="0">
                <a:latin typeface="Calibri" panose="020F0502020204030204" pitchFamily="34" charset="0"/>
                <a:cs typeface="Calibri" panose="020F0502020204030204" pitchFamily="34" charset="0"/>
              </a:rPr>
              <a:t>It is one of the key financial metrics used to measure the bank’s profitability from lending operations.</a:t>
            </a:r>
          </a:p>
          <a:p>
            <a:pPr algn="just">
              <a:lnSpc>
                <a:spcPct val="150000"/>
              </a:lnSpc>
            </a:pPr>
            <a:r>
              <a:rPr lang="en-US" sz="1400" b="1" dirty="0">
                <a:latin typeface="Calibri" panose="020F0502020204030204" pitchFamily="34" charset="0"/>
                <a:cs typeface="Calibri" panose="020F0502020204030204" pitchFamily="34" charset="0"/>
              </a:rPr>
              <a:t>SUM([Total </a:t>
            </a:r>
            <a:r>
              <a:rPr lang="en-US" sz="1400" b="1" dirty="0" err="1">
                <a:latin typeface="Calibri" panose="020F0502020204030204" pitchFamily="34" charset="0"/>
                <a:cs typeface="Calibri" panose="020F0502020204030204" pitchFamily="34" charset="0"/>
              </a:rPr>
              <a:t>Rrec</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int</a:t>
            </a:r>
            <a:r>
              <a:rPr lang="en-US" sz="1400" b="1" dirty="0">
                <a:latin typeface="Calibri" panose="020F0502020204030204" pitchFamily="34" charset="0"/>
                <a:cs typeface="Calibri" panose="020F0502020204030204" pitchFamily="34" charset="0"/>
              </a:rPr>
              <a:t>])</a:t>
            </a:r>
          </a:p>
        </p:txBody>
      </p:sp>
      <p:sp>
        <p:nvSpPr>
          <p:cNvPr id="6" name="Rectangle 5"/>
          <p:cNvSpPr/>
          <p:nvPr/>
        </p:nvSpPr>
        <p:spPr>
          <a:xfrm>
            <a:off x="330430" y="3440480"/>
            <a:ext cx="9741032" cy="1384995"/>
          </a:xfrm>
          <a:prstGeom prst="rect">
            <a:avLst/>
          </a:prstGeom>
        </p:spPr>
        <p:txBody>
          <a:bodyPr wrap="square">
            <a:spAutoFit/>
          </a:bodyPr>
          <a:lstStyle/>
          <a:p>
            <a:pPr algn="just">
              <a:lnSpc>
                <a:spcPct val="150000"/>
              </a:lnSpc>
            </a:pPr>
            <a:r>
              <a:rPr lang="en-US" sz="1400" b="1" dirty="0">
                <a:latin typeface="Calibri" panose="020F0502020204030204" pitchFamily="34" charset="0"/>
                <a:cs typeface="Calibri" panose="020F0502020204030204" pitchFamily="34" charset="0"/>
              </a:rPr>
              <a:t>Default Loan Count represents the total number of loans where customers failed to repay the loan as per the agreed terms and the loan is marked as “Y” in “Is default Loan” column .</a:t>
            </a:r>
          </a:p>
          <a:p>
            <a:pPr algn="just">
              <a:lnSpc>
                <a:spcPct val="150000"/>
              </a:lnSpc>
            </a:pPr>
            <a:r>
              <a:rPr lang="en-US" sz="1400" b="1" dirty="0">
                <a:latin typeface="Calibri" panose="020F0502020204030204" pitchFamily="34" charset="0"/>
                <a:cs typeface="Calibri" panose="020F0502020204030204" pitchFamily="34" charset="0"/>
              </a:rPr>
              <a:t>This KPI helps banks identify the volume of risky or non-performing loans.</a:t>
            </a:r>
          </a:p>
          <a:p>
            <a:pPr algn="just">
              <a:lnSpc>
                <a:spcPct val="150000"/>
              </a:lnSpc>
            </a:pPr>
            <a:r>
              <a:rPr lang="en-US" sz="1400" b="1" dirty="0">
                <a:latin typeface="Calibri" panose="020F0502020204030204" pitchFamily="34" charset="0"/>
                <a:cs typeface="Calibri" panose="020F0502020204030204" pitchFamily="34" charset="0"/>
              </a:rPr>
              <a:t>Default Loan Count : SUM(IF [Is Default Loan]=='Y' THEN 1 ELSE 0 END) </a:t>
            </a:r>
          </a:p>
        </p:txBody>
      </p:sp>
      <p:sp>
        <p:nvSpPr>
          <p:cNvPr id="8" name="Rectangle 7"/>
          <p:cNvSpPr/>
          <p:nvPr/>
        </p:nvSpPr>
        <p:spPr>
          <a:xfrm>
            <a:off x="330429" y="5434071"/>
            <a:ext cx="9114015" cy="1384995"/>
          </a:xfrm>
          <a:prstGeom prst="rect">
            <a:avLst/>
          </a:prstGeom>
        </p:spPr>
        <p:txBody>
          <a:bodyPr wrap="square">
            <a:spAutoFit/>
          </a:bodyPr>
          <a:lstStyle/>
          <a:p>
            <a:pPr algn="just">
              <a:lnSpc>
                <a:spcPct val="150000"/>
              </a:lnSpc>
            </a:pPr>
            <a:r>
              <a:rPr lang="en-US" sz="1400" b="1" dirty="0">
                <a:latin typeface="Calibri" panose="020F0502020204030204" pitchFamily="34" charset="0"/>
                <a:cs typeface="Calibri" panose="020F0502020204030204" pitchFamily="34" charset="0"/>
              </a:rPr>
              <a:t>Default Loan Rate represents the percentage of loans that borrowers failed to repay compared to the total number or value of loans issued by the bank.</a:t>
            </a:r>
          </a:p>
          <a:p>
            <a:pPr algn="just">
              <a:lnSpc>
                <a:spcPct val="150000"/>
              </a:lnSpc>
            </a:pPr>
            <a:r>
              <a:rPr lang="en-US" sz="1400" b="1" dirty="0">
                <a:latin typeface="Calibri" panose="020F0502020204030204" pitchFamily="34" charset="0"/>
                <a:cs typeface="Calibri" panose="020F0502020204030204" pitchFamily="34" charset="0"/>
              </a:rPr>
              <a:t>It is an important KPI used to measure the bank’s credit risk and loan portfolio health.</a:t>
            </a:r>
          </a:p>
          <a:p>
            <a:pPr algn="just">
              <a:lnSpc>
                <a:spcPct val="150000"/>
              </a:lnSpc>
            </a:pPr>
            <a:r>
              <a:rPr lang="en-US" sz="1400" b="1" dirty="0">
                <a:latin typeface="Calibri" panose="020F0502020204030204" pitchFamily="34" charset="0"/>
                <a:cs typeface="Calibri" panose="020F0502020204030204" pitchFamily="34" charset="0"/>
              </a:rPr>
              <a:t>Default Loan Rate : [Default Loan Count]/COUNT([Account ID]) </a:t>
            </a:r>
          </a:p>
        </p:txBody>
      </p:sp>
    </p:spTree>
    <p:extLst>
      <p:ext uri="{BB962C8B-B14F-4D97-AF65-F5344CB8AC3E}">
        <p14:creationId xmlns:p14="http://schemas.microsoft.com/office/powerpoint/2010/main" val="1175713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8114" y="107995"/>
            <a:ext cx="8610600" cy="1293028"/>
          </a:xfrm>
        </p:spPr>
        <p:txBody>
          <a:bodyPr/>
          <a:lstStyle/>
          <a:p>
            <a:r>
              <a:rPr lang="en-US" b="1" dirty="0">
                <a:solidFill>
                  <a:srgbClr val="0070C0"/>
                </a:solidFill>
                <a:latin typeface="Calibri" panose="020F0502020204030204" pitchFamily="34" charset="0"/>
                <a:cs typeface="Calibri" panose="020F0502020204030204" pitchFamily="34" charset="0"/>
              </a:rPr>
              <a:t>Calculated</a:t>
            </a:r>
            <a:r>
              <a:rPr lang="en-US" dirty="0"/>
              <a:t> </a:t>
            </a:r>
            <a:r>
              <a:rPr lang="en-US" b="1" dirty="0">
                <a:solidFill>
                  <a:srgbClr val="0070C0"/>
                </a:solidFill>
                <a:latin typeface="Calibri" panose="020F0502020204030204" pitchFamily="34" charset="0"/>
                <a:cs typeface="Calibri" panose="020F0502020204030204" pitchFamily="34" charset="0"/>
              </a:rPr>
              <a:t>Field</a:t>
            </a:r>
            <a:endParaRPr lang="en-IN" b="1" dirty="0">
              <a:solidFill>
                <a:srgbClr val="0070C0"/>
              </a:solidFill>
              <a:latin typeface="Calibri" panose="020F0502020204030204" pitchFamily="34" charset="0"/>
              <a:cs typeface="Calibri" panose="020F0502020204030204" pitchFamily="34" charset="0"/>
            </a:endParaRPr>
          </a:p>
        </p:txBody>
      </p:sp>
      <p:sp>
        <p:nvSpPr>
          <p:cNvPr id="3" name="Rectangle 2"/>
          <p:cNvSpPr/>
          <p:nvPr/>
        </p:nvSpPr>
        <p:spPr>
          <a:xfrm>
            <a:off x="0" y="1451708"/>
            <a:ext cx="7990114"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Delinquent Client Count: Tracks borrowers with missed payments.</a:t>
            </a:r>
          </a:p>
        </p:txBody>
      </p:sp>
      <p:pic>
        <p:nvPicPr>
          <p:cNvPr id="4" name="Picture 3"/>
          <p:cNvPicPr>
            <a:picLocks noChangeAspect="1"/>
          </p:cNvPicPr>
          <p:nvPr/>
        </p:nvPicPr>
        <p:blipFill>
          <a:blip r:embed="rId2"/>
          <a:stretch>
            <a:fillRect/>
          </a:stretch>
        </p:blipFill>
        <p:spPr>
          <a:xfrm>
            <a:off x="10145214" y="1381137"/>
            <a:ext cx="1715860" cy="1410495"/>
          </a:xfrm>
          <a:prstGeom prst="rect">
            <a:avLst/>
          </a:prstGeom>
        </p:spPr>
      </p:pic>
      <p:sp>
        <p:nvSpPr>
          <p:cNvPr id="7" name="Rectangle 6"/>
          <p:cNvSpPr/>
          <p:nvPr/>
        </p:nvSpPr>
        <p:spPr>
          <a:xfrm>
            <a:off x="95794" y="3668638"/>
            <a:ext cx="9296400"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Delinquent</a:t>
            </a:r>
            <a:r>
              <a:rPr lang="en-IN" dirty="0"/>
              <a:t> </a:t>
            </a:r>
            <a:r>
              <a:rPr lang="en-IN" b="1" dirty="0">
                <a:solidFill>
                  <a:srgbClr val="990099"/>
                </a:solidFill>
                <a:latin typeface="Calibri" panose="020F0502020204030204" pitchFamily="34" charset="0"/>
                <a:cs typeface="Calibri" panose="020F0502020204030204" pitchFamily="34" charset="0"/>
              </a:rPr>
              <a:t>Loan Rate: Percentage of loans overdue in the portfolio.</a:t>
            </a:r>
          </a:p>
        </p:txBody>
      </p:sp>
      <p:pic>
        <p:nvPicPr>
          <p:cNvPr id="12" name="Picture 11"/>
          <p:cNvPicPr>
            <a:picLocks noChangeAspect="1"/>
          </p:cNvPicPr>
          <p:nvPr/>
        </p:nvPicPr>
        <p:blipFill>
          <a:blip r:embed="rId3"/>
          <a:stretch>
            <a:fillRect/>
          </a:stretch>
        </p:blipFill>
        <p:spPr>
          <a:xfrm>
            <a:off x="10192839" y="3153715"/>
            <a:ext cx="1668235" cy="1294550"/>
          </a:xfrm>
          <a:prstGeom prst="rect">
            <a:avLst/>
          </a:prstGeom>
        </p:spPr>
      </p:pic>
      <p:sp>
        <p:nvSpPr>
          <p:cNvPr id="13" name="Rectangle 12"/>
          <p:cNvSpPr/>
          <p:nvPr/>
        </p:nvSpPr>
        <p:spPr>
          <a:xfrm>
            <a:off x="95794" y="5025984"/>
            <a:ext cx="9165771"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No</a:t>
            </a:r>
            <a:r>
              <a:rPr lang="en-IN" dirty="0"/>
              <a:t> </a:t>
            </a:r>
            <a:r>
              <a:rPr lang="en-IN" b="1" dirty="0">
                <a:solidFill>
                  <a:srgbClr val="990099"/>
                </a:solidFill>
                <a:latin typeface="Calibri" panose="020F0502020204030204" pitchFamily="34" charset="0"/>
                <a:cs typeface="Calibri" panose="020F0502020204030204" pitchFamily="34" charset="0"/>
              </a:rPr>
              <a:t>Verified Loans: Identifies loans without proper verification.</a:t>
            </a:r>
          </a:p>
        </p:txBody>
      </p:sp>
      <p:pic>
        <p:nvPicPr>
          <p:cNvPr id="14" name="Picture 13"/>
          <p:cNvPicPr>
            <a:picLocks noChangeAspect="1"/>
          </p:cNvPicPr>
          <p:nvPr/>
        </p:nvPicPr>
        <p:blipFill>
          <a:blip r:embed="rId4"/>
          <a:stretch>
            <a:fillRect/>
          </a:stretch>
        </p:blipFill>
        <p:spPr>
          <a:xfrm>
            <a:off x="10192838" y="4875658"/>
            <a:ext cx="1668235" cy="1482876"/>
          </a:xfrm>
          <a:prstGeom prst="rect">
            <a:avLst/>
          </a:prstGeom>
        </p:spPr>
      </p:pic>
      <p:sp>
        <p:nvSpPr>
          <p:cNvPr id="5" name="Rectangle 4"/>
          <p:cNvSpPr/>
          <p:nvPr/>
        </p:nvSpPr>
        <p:spPr>
          <a:xfrm>
            <a:off x="278672" y="1860589"/>
            <a:ext cx="9698902" cy="1738938"/>
          </a:xfrm>
          <a:prstGeom prst="rect">
            <a:avLst/>
          </a:prstGeom>
        </p:spPr>
        <p:txBody>
          <a:bodyPr wrap="square">
            <a:spAutoFit/>
          </a:bodyPr>
          <a:lstStyle/>
          <a:p>
            <a:pPr algn="just"/>
            <a:r>
              <a:rPr lang="en-US" sz="1400" b="1" dirty="0">
                <a:latin typeface="Calibri" panose="020F0502020204030204" pitchFamily="34" charset="0"/>
                <a:cs typeface="Calibri" panose="020F0502020204030204" pitchFamily="34" charset="0"/>
              </a:rPr>
              <a:t>Delinquent Client Count represents the total number of borrowers who have missed their loan payments or failed to pay installments on time.</a:t>
            </a:r>
          </a:p>
          <a:p>
            <a:pPr algn="just"/>
            <a:r>
              <a:rPr lang="en-US" sz="1400" b="1" dirty="0">
                <a:latin typeface="Calibri" panose="020F0502020204030204" pitchFamily="34" charset="0"/>
                <a:cs typeface="Calibri" panose="020F0502020204030204" pitchFamily="34" charset="0"/>
              </a:rPr>
              <a:t>These customers are considered financially risky and require monitoring by the bank.</a:t>
            </a:r>
          </a:p>
          <a:p>
            <a:pPr algn="just"/>
            <a:endParaRPr lang="en-US" sz="900" b="1" dirty="0">
              <a:latin typeface="Calibri" panose="020F0502020204030204" pitchFamily="34" charset="0"/>
              <a:cs typeface="Calibri" panose="020F0502020204030204" pitchFamily="34" charset="0"/>
            </a:endParaRPr>
          </a:p>
          <a:p>
            <a:pPr algn="just"/>
            <a:r>
              <a:rPr lang="en-US" sz="1400" b="1" dirty="0">
                <a:latin typeface="Calibri" panose="020F0502020204030204" pitchFamily="34" charset="0"/>
                <a:cs typeface="Calibri" panose="020F0502020204030204" pitchFamily="34" charset="0"/>
              </a:rPr>
              <a:t>Delinquent Client Count : COUNTD(</a:t>
            </a:r>
          </a:p>
          <a:p>
            <a:pPr algn="just"/>
            <a:r>
              <a:rPr lang="en-US" sz="1400" b="1" dirty="0">
                <a:latin typeface="Calibri" panose="020F0502020204030204" pitchFamily="34" charset="0"/>
                <a:cs typeface="Calibri" panose="020F0502020204030204" pitchFamily="34" charset="0"/>
              </a:rPr>
              <a:t>IF [Is Delinquent Loan] = 'Y'</a:t>
            </a:r>
          </a:p>
          <a:p>
            <a:pPr algn="just"/>
            <a:r>
              <a:rPr lang="en-US" sz="1400" b="1" dirty="0">
                <a:latin typeface="Calibri" panose="020F0502020204030204" pitchFamily="34" charset="0"/>
                <a:cs typeface="Calibri" panose="020F0502020204030204" pitchFamily="34" charset="0"/>
              </a:rPr>
              <a:t>THEN [Client id]</a:t>
            </a:r>
          </a:p>
          <a:p>
            <a:pPr algn="just"/>
            <a:r>
              <a:rPr lang="en-US" sz="1400" b="1" dirty="0">
                <a:latin typeface="Calibri" panose="020F0502020204030204" pitchFamily="34" charset="0"/>
                <a:cs typeface="Calibri" panose="020F0502020204030204" pitchFamily="34" charset="0"/>
              </a:rPr>
              <a:t>END</a:t>
            </a:r>
          </a:p>
        </p:txBody>
      </p:sp>
      <p:sp>
        <p:nvSpPr>
          <p:cNvPr id="6" name="Rectangle 5"/>
          <p:cNvSpPr/>
          <p:nvPr/>
        </p:nvSpPr>
        <p:spPr>
          <a:xfrm>
            <a:off x="278672" y="3975504"/>
            <a:ext cx="9692097" cy="954107"/>
          </a:xfrm>
          <a:prstGeom prst="rect">
            <a:avLst/>
          </a:prstGeom>
        </p:spPr>
        <p:txBody>
          <a:bodyPr wrap="square">
            <a:spAutoFit/>
          </a:bodyPr>
          <a:lstStyle/>
          <a:p>
            <a:pPr algn="just"/>
            <a:r>
              <a:rPr lang="en-US" sz="1400" b="1" dirty="0">
                <a:latin typeface="Calibri" panose="020F0502020204030204" pitchFamily="34" charset="0"/>
                <a:cs typeface="Calibri" panose="020F0502020204030204" pitchFamily="34" charset="0"/>
              </a:rPr>
              <a:t>Delinquent Loan Rate represents the percentage of loans in the bank’s portfolio that are overdue or unpaid beyond the due date.</a:t>
            </a:r>
          </a:p>
          <a:p>
            <a:pPr algn="just"/>
            <a:r>
              <a:rPr lang="en-US" sz="1400" b="1" dirty="0">
                <a:latin typeface="Calibri" panose="020F0502020204030204" pitchFamily="34" charset="0"/>
                <a:cs typeface="Calibri" panose="020F0502020204030204" pitchFamily="34" charset="0"/>
              </a:rPr>
              <a:t>It is an important KPI used to measure loan repayment performance and credit risk.</a:t>
            </a:r>
          </a:p>
          <a:p>
            <a:pPr algn="just"/>
            <a:endParaRPr lang="en-US" sz="1400" b="1" dirty="0">
              <a:latin typeface="Calibri" panose="020F0502020204030204" pitchFamily="34" charset="0"/>
              <a:cs typeface="Calibri" panose="020F0502020204030204" pitchFamily="34" charset="0"/>
            </a:endParaRPr>
          </a:p>
          <a:p>
            <a:pPr algn="just"/>
            <a:r>
              <a:rPr lang="en-US" sz="1400" b="1" dirty="0">
                <a:latin typeface="Calibri" panose="020F0502020204030204" pitchFamily="34" charset="0"/>
                <a:cs typeface="Calibri" panose="020F0502020204030204" pitchFamily="34" charset="0"/>
              </a:rPr>
              <a:t>[Delinquent Client Count]/ COUNT([Account ID])</a:t>
            </a:r>
          </a:p>
        </p:txBody>
      </p:sp>
      <p:sp>
        <p:nvSpPr>
          <p:cNvPr id="8" name="Rectangle 7"/>
          <p:cNvSpPr/>
          <p:nvPr/>
        </p:nvSpPr>
        <p:spPr>
          <a:xfrm>
            <a:off x="278672" y="5357907"/>
            <a:ext cx="9692097" cy="1538883"/>
          </a:xfrm>
          <a:prstGeom prst="rect">
            <a:avLst/>
          </a:prstGeom>
        </p:spPr>
        <p:txBody>
          <a:bodyPr wrap="square">
            <a:spAutoFit/>
          </a:bodyPr>
          <a:lstStyle/>
          <a:p>
            <a:pPr algn="just"/>
            <a:r>
              <a:rPr lang="en-US" sz="1400" b="1" dirty="0">
                <a:latin typeface="Calibri" panose="020F0502020204030204" pitchFamily="34" charset="0"/>
                <a:cs typeface="Calibri" panose="020F0502020204030204" pitchFamily="34" charset="0"/>
              </a:rPr>
              <a:t>No Verified Loans represent the number of loans that were approved or processed without completing proper verification checks such as income verification, identity verification, employment verification, or document validation.</a:t>
            </a:r>
          </a:p>
          <a:p>
            <a:pPr algn="just"/>
            <a:endParaRPr lang="en-US" sz="900" b="1" dirty="0">
              <a:latin typeface="Calibri" panose="020F0502020204030204" pitchFamily="34" charset="0"/>
              <a:cs typeface="Calibri" panose="020F0502020204030204" pitchFamily="34" charset="0"/>
            </a:endParaRPr>
          </a:p>
          <a:p>
            <a:pPr algn="just"/>
            <a:r>
              <a:rPr lang="en-US" sz="1400" b="1" dirty="0">
                <a:latin typeface="Calibri" panose="020F0502020204030204" pitchFamily="34" charset="0"/>
                <a:cs typeface="Calibri" panose="020F0502020204030204" pitchFamily="34" charset="0"/>
              </a:rPr>
              <a:t>IF [Verification Status] = "Not Verified"</a:t>
            </a:r>
          </a:p>
          <a:p>
            <a:pPr algn="just"/>
            <a:r>
              <a:rPr lang="en-US" sz="1400" b="1" dirty="0">
                <a:latin typeface="Calibri" panose="020F0502020204030204" pitchFamily="34" charset="0"/>
                <a:cs typeface="Calibri" panose="020F0502020204030204" pitchFamily="34" charset="0"/>
              </a:rPr>
              <a:t>THEN 1</a:t>
            </a:r>
          </a:p>
          <a:p>
            <a:pPr algn="just"/>
            <a:r>
              <a:rPr lang="en-US" sz="1400" b="1" dirty="0">
                <a:latin typeface="Calibri" panose="020F0502020204030204" pitchFamily="34" charset="0"/>
                <a:cs typeface="Calibri" panose="020F0502020204030204" pitchFamily="34" charset="0"/>
              </a:rPr>
              <a:t>ELSE 0</a:t>
            </a:r>
          </a:p>
          <a:p>
            <a:pPr algn="just"/>
            <a:r>
              <a:rPr lang="en-US" sz="1400" b="1" dirty="0">
                <a:latin typeface="Calibri" panose="020F0502020204030204" pitchFamily="34" charset="0"/>
                <a:cs typeface="Calibri" panose="020F0502020204030204" pitchFamily="34" charset="0"/>
              </a:rPr>
              <a:t>END</a:t>
            </a:r>
          </a:p>
        </p:txBody>
      </p:sp>
    </p:spTree>
    <p:extLst>
      <p:ext uri="{BB962C8B-B14F-4D97-AF65-F5344CB8AC3E}">
        <p14:creationId xmlns:p14="http://schemas.microsoft.com/office/powerpoint/2010/main" val="1594239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0474" y="241583"/>
            <a:ext cx="8610600" cy="1025514"/>
          </a:xfrm>
        </p:spPr>
        <p:txBody>
          <a:bodyPr/>
          <a:lstStyle/>
          <a:p>
            <a:r>
              <a:rPr lang="en-US" b="1" dirty="0">
                <a:solidFill>
                  <a:srgbClr val="0070C0"/>
                </a:solidFill>
                <a:latin typeface="Calibri" panose="020F0502020204030204" pitchFamily="34" charset="0"/>
                <a:cs typeface="Calibri" panose="020F0502020204030204" pitchFamily="34" charset="0"/>
              </a:rPr>
              <a:t>Charts</a:t>
            </a:r>
            <a:endParaRPr lang="en-IN" b="1" dirty="0">
              <a:solidFill>
                <a:srgbClr val="0070C0"/>
              </a:solidFill>
              <a:latin typeface="Calibri" panose="020F0502020204030204" pitchFamily="34" charset="0"/>
              <a:cs typeface="Calibri" panose="020F0502020204030204" pitchFamily="34" charset="0"/>
            </a:endParaRPr>
          </a:p>
        </p:txBody>
      </p:sp>
      <p:sp>
        <p:nvSpPr>
          <p:cNvPr id="4" name="Rectangle 3"/>
          <p:cNvSpPr/>
          <p:nvPr/>
        </p:nvSpPr>
        <p:spPr>
          <a:xfrm>
            <a:off x="91440" y="1389245"/>
            <a:ext cx="9061269"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Branch-Wise</a:t>
            </a:r>
            <a:r>
              <a:rPr lang="en-IN" dirty="0"/>
              <a:t> </a:t>
            </a:r>
            <a:r>
              <a:rPr lang="en-IN" b="1" dirty="0">
                <a:solidFill>
                  <a:srgbClr val="990099"/>
                </a:solidFill>
                <a:latin typeface="Calibri" panose="020F0502020204030204" pitchFamily="34" charset="0"/>
                <a:cs typeface="Calibri" panose="020F0502020204030204" pitchFamily="34" charset="0"/>
              </a:rPr>
              <a:t>Performance: </a:t>
            </a:r>
            <a:r>
              <a:rPr lang="en-IN" b="1" dirty="0" err="1">
                <a:solidFill>
                  <a:srgbClr val="990099"/>
                </a:solidFill>
                <a:latin typeface="Calibri" panose="020F0502020204030204" pitchFamily="34" charset="0"/>
                <a:cs typeface="Calibri" panose="020F0502020204030204" pitchFamily="34" charset="0"/>
              </a:rPr>
              <a:t>Analyzes</a:t>
            </a:r>
            <a:r>
              <a:rPr lang="en-IN" b="1" dirty="0">
                <a:solidFill>
                  <a:srgbClr val="990099"/>
                </a:solidFill>
                <a:latin typeface="Calibri" panose="020F0502020204030204" pitchFamily="34" charset="0"/>
                <a:cs typeface="Calibri" panose="020F0502020204030204" pitchFamily="34" charset="0"/>
              </a:rPr>
              <a:t> revenue (interest, fees, total) by branch.</a:t>
            </a:r>
          </a:p>
        </p:txBody>
      </p:sp>
      <p:pic>
        <p:nvPicPr>
          <p:cNvPr id="5" name="Picture 4"/>
          <p:cNvPicPr>
            <a:picLocks noChangeAspect="1"/>
          </p:cNvPicPr>
          <p:nvPr/>
        </p:nvPicPr>
        <p:blipFill>
          <a:blip r:embed="rId2"/>
          <a:stretch>
            <a:fillRect/>
          </a:stretch>
        </p:blipFill>
        <p:spPr>
          <a:xfrm>
            <a:off x="7238998" y="1758577"/>
            <a:ext cx="4508165" cy="2243790"/>
          </a:xfrm>
          <a:prstGeom prst="rect">
            <a:avLst/>
          </a:prstGeom>
        </p:spPr>
      </p:pic>
      <p:pic>
        <p:nvPicPr>
          <p:cNvPr id="6" name="Picture 5"/>
          <p:cNvPicPr>
            <a:picLocks noChangeAspect="1"/>
          </p:cNvPicPr>
          <p:nvPr/>
        </p:nvPicPr>
        <p:blipFill>
          <a:blip r:embed="rId3"/>
          <a:stretch>
            <a:fillRect/>
          </a:stretch>
        </p:blipFill>
        <p:spPr>
          <a:xfrm>
            <a:off x="187233" y="4258219"/>
            <a:ext cx="3364232" cy="2505773"/>
          </a:xfrm>
          <a:prstGeom prst="rect">
            <a:avLst/>
          </a:prstGeom>
        </p:spPr>
      </p:pic>
      <p:sp>
        <p:nvSpPr>
          <p:cNvPr id="7" name="Rectangle 6"/>
          <p:cNvSpPr/>
          <p:nvPr/>
        </p:nvSpPr>
        <p:spPr>
          <a:xfrm>
            <a:off x="3551465" y="4163490"/>
            <a:ext cx="8564880"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State-Wise Loan: Shows geographic distribution of loans.</a:t>
            </a:r>
          </a:p>
        </p:txBody>
      </p:sp>
      <p:sp>
        <p:nvSpPr>
          <p:cNvPr id="3" name="Rectangle 2"/>
          <p:cNvSpPr/>
          <p:nvPr/>
        </p:nvSpPr>
        <p:spPr>
          <a:xfrm>
            <a:off x="278673" y="2069724"/>
            <a:ext cx="6866710" cy="880369"/>
          </a:xfrm>
          <a:prstGeom prst="rect">
            <a:avLst/>
          </a:prstGeom>
        </p:spPr>
        <p:txBody>
          <a:bodyPr wrap="square">
            <a:spAutoFit/>
          </a:bodyPr>
          <a:lstStyle/>
          <a:p>
            <a:pPr algn="just">
              <a:lnSpc>
                <a:spcPct val="150000"/>
              </a:lnSpc>
            </a:pPr>
            <a:r>
              <a:rPr lang="en-US" b="1" dirty="0">
                <a:latin typeface="Calibri" panose="020F0502020204030204" pitchFamily="34" charset="0"/>
                <a:cs typeface="Calibri" panose="020F0502020204030204" pitchFamily="34" charset="0"/>
              </a:rPr>
              <a:t>Branch-Wise Performance analyzes and compares the financial performance of different bank branches based on revenue</a:t>
            </a:r>
            <a:endParaRPr lang="en-IN" b="1" dirty="0">
              <a:latin typeface="Calibri" panose="020F0502020204030204" pitchFamily="34" charset="0"/>
              <a:cs typeface="Calibri" panose="020F0502020204030204" pitchFamily="34" charset="0"/>
            </a:endParaRPr>
          </a:p>
        </p:txBody>
      </p:sp>
      <p:sp>
        <p:nvSpPr>
          <p:cNvPr id="8" name="Rectangle 7"/>
          <p:cNvSpPr/>
          <p:nvPr/>
        </p:nvSpPr>
        <p:spPr>
          <a:xfrm>
            <a:off x="3553097" y="4580491"/>
            <a:ext cx="8533701" cy="2126864"/>
          </a:xfrm>
          <a:prstGeom prst="rect">
            <a:avLst/>
          </a:prstGeom>
        </p:spPr>
        <p:txBody>
          <a:bodyPr wrap="square">
            <a:spAutoFit/>
          </a:bodyPr>
          <a:lstStyle/>
          <a:p>
            <a:pPr algn="just">
              <a:lnSpc>
                <a:spcPct val="150000"/>
              </a:lnSpc>
            </a:pPr>
            <a:r>
              <a:rPr lang="en-US" b="1" dirty="0">
                <a:latin typeface="Calibri" panose="020F0502020204030204" pitchFamily="34" charset="0"/>
                <a:cs typeface="Calibri" panose="020F0502020204030204" pitchFamily="34" charset="0"/>
              </a:rPr>
              <a:t>State-Wise Loan analysis shows the distribution of loans across different states or regions. It helps stakeholders understand which geographic areas contribute the highest or lowest loan amounts and customer activity.</a:t>
            </a:r>
          </a:p>
          <a:p>
            <a:pPr algn="just">
              <a:lnSpc>
                <a:spcPct val="150000"/>
              </a:lnSpc>
            </a:pPr>
            <a:r>
              <a:rPr lang="en-US" b="1" dirty="0">
                <a:latin typeface="Calibri" panose="020F0502020204030204" pitchFamily="34" charset="0"/>
                <a:cs typeface="Calibri" panose="020F0502020204030204" pitchFamily="34" charset="0"/>
              </a:rPr>
              <a:t>This analysis is useful for identifying regional business performance and market opportunities.</a:t>
            </a:r>
          </a:p>
        </p:txBody>
      </p:sp>
    </p:spTree>
    <p:extLst>
      <p:ext uri="{BB962C8B-B14F-4D97-AF65-F5344CB8AC3E}">
        <p14:creationId xmlns:p14="http://schemas.microsoft.com/office/powerpoint/2010/main" val="532051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2631" y="55649"/>
            <a:ext cx="8610600" cy="1293028"/>
          </a:xfrm>
        </p:spPr>
        <p:txBody>
          <a:bodyPr/>
          <a:lstStyle/>
          <a:p>
            <a:r>
              <a:rPr lang="en-US" b="1" dirty="0">
                <a:solidFill>
                  <a:srgbClr val="0070C0"/>
                </a:solidFill>
                <a:latin typeface="Calibri" panose="020F0502020204030204" pitchFamily="34" charset="0"/>
                <a:cs typeface="Calibri" panose="020F0502020204030204" pitchFamily="34" charset="0"/>
              </a:rPr>
              <a:t>Charts</a:t>
            </a:r>
            <a:endParaRPr lang="en-IN" b="1" dirty="0">
              <a:solidFill>
                <a:srgbClr val="0070C0"/>
              </a:solidFill>
              <a:latin typeface="Calibri" panose="020F0502020204030204" pitchFamily="34" charset="0"/>
              <a:cs typeface="Calibri" panose="020F0502020204030204" pitchFamily="34" charset="0"/>
            </a:endParaRPr>
          </a:p>
        </p:txBody>
      </p:sp>
      <p:sp>
        <p:nvSpPr>
          <p:cNvPr id="3" name="Rectangle 2"/>
          <p:cNvSpPr/>
          <p:nvPr/>
        </p:nvSpPr>
        <p:spPr>
          <a:xfrm>
            <a:off x="0" y="1561249"/>
            <a:ext cx="8577944"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Religion-Wise Loan: Monitors loan distribution across religious demographics.</a:t>
            </a:r>
          </a:p>
        </p:txBody>
      </p:sp>
      <p:pic>
        <p:nvPicPr>
          <p:cNvPr id="8" name="Picture 7"/>
          <p:cNvPicPr>
            <a:picLocks noChangeAspect="1"/>
          </p:cNvPicPr>
          <p:nvPr/>
        </p:nvPicPr>
        <p:blipFill>
          <a:blip r:embed="rId2"/>
          <a:stretch>
            <a:fillRect/>
          </a:stretch>
        </p:blipFill>
        <p:spPr>
          <a:xfrm>
            <a:off x="9013370" y="1348677"/>
            <a:ext cx="2919005" cy="2642721"/>
          </a:xfrm>
          <a:prstGeom prst="rect">
            <a:avLst/>
          </a:prstGeom>
        </p:spPr>
      </p:pic>
      <p:pic>
        <p:nvPicPr>
          <p:cNvPr id="10" name="Picture 9"/>
          <p:cNvPicPr>
            <a:picLocks noChangeAspect="1"/>
          </p:cNvPicPr>
          <p:nvPr/>
        </p:nvPicPr>
        <p:blipFill>
          <a:blip r:embed="rId3"/>
          <a:stretch>
            <a:fillRect/>
          </a:stretch>
        </p:blipFill>
        <p:spPr>
          <a:xfrm>
            <a:off x="200295" y="3822401"/>
            <a:ext cx="2689861" cy="2970055"/>
          </a:xfrm>
          <a:prstGeom prst="rect">
            <a:avLst/>
          </a:prstGeom>
        </p:spPr>
      </p:pic>
      <p:sp>
        <p:nvSpPr>
          <p:cNvPr id="11" name="Rectangle 10"/>
          <p:cNvSpPr/>
          <p:nvPr/>
        </p:nvSpPr>
        <p:spPr>
          <a:xfrm>
            <a:off x="3119300" y="4284299"/>
            <a:ext cx="8813075"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Loan</a:t>
            </a:r>
            <a:r>
              <a:rPr lang="en-IN" dirty="0"/>
              <a:t> </a:t>
            </a:r>
            <a:r>
              <a:rPr lang="en-IN" b="1" dirty="0">
                <a:solidFill>
                  <a:srgbClr val="990099"/>
                </a:solidFill>
                <a:latin typeface="Calibri" panose="020F0502020204030204" pitchFamily="34" charset="0"/>
                <a:cs typeface="Calibri" panose="020F0502020204030204" pitchFamily="34" charset="0"/>
              </a:rPr>
              <a:t>Status-Wise Loan: Breaks down loans by status (active, delinquent, closed).</a:t>
            </a:r>
          </a:p>
        </p:txBody>
      </p:sp>
      <p:sp>
        <p:nvSpPr>
          <p:cNvPr id="4" name="Rectangle 3"/>
          <p:cNvSpPr/>
          <p:nvPr/>
        </p:nvSpPr>
        <p:spPr>
          <a:xfrm>
            <a:off x="350518" y="2057401"/>
            <a:ext cx="8512628" cy="1295868"/>
          </a:xfrm>
          <a:prstGeom prst="rect">
            <a:avLst/>
          </a:prstGeom>
        </p:spPr>
        <p:txBody>
          <a:bodyPr wrap="square">
            <a:spAutoFit/>
          </a:bodyPr>
          <a:lstStyle/>
          <a:p>
            <a:pPr algn="just">
              <a:lnSpc>
                <a:spcPct val="150000"/>
              </a:lnSpc>
            </a:pPr>
            <a:r>
              <a:rPr lang="en-US" b="1" dirty="0">
                <a:latin typeface="Calibri" panose="020F0502020204030204" pitchFamily="34" charset="0"/>
                <a:cs typeface="Calibri" panose="020F0502020204030204" pitchFamily="34" charset="0"/>
              </a:rPr>
              <a:t>Religion-Wise Loan analysis shows how loans are distributed among customers belonging to different religious groups. This helps banks understand customer demographics and lending patterns across various communities.</a:t>
            </a:r>
          </a:p>
        </p:txBody>
      </p:sp>
      <p:sp>
        <p:nvSpPr>
          <p:cNvPr id="5" name="Rectangle 4"/>
          <p:cNvSpPr/>
          <p:nvPr/>
        </p:nvSpPr>
        <p:spPr>
          <a:xfrm>
            <a:off x="3660865" y="4915094"/>
            <a:ext cx="8042366" cy="369332"/>
          </a:xfrm>
          <a:prstGeom prst="rect">
            <a:avLst/>
          </a:prstGeom>
        </p:spPr>
        <p:txBody>
          <a:bodyPr wrap="square">
            <a:spAutoFit/>
          </a:bodyPr>
          <a:lstStyle/>
          <a:p>
            <a:r>
              <a:rPr lang="en-US" b="1" dirty="0">
                <a:latin typeface="Calibri" panose="020F0502020204030204" pitchFamily="34" charset="0"/>
                <a:cs typeface="Calibri" panose="020F0502020204030204" pitchFamily="34" charset="0"/>
              </a:rPr>
              <a:t>Loan Status-Wise Loan analysis categorizes loans based on their current status</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2351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Calibri" panose="020F0502020204030204" pitchFamily="34" charset="0"/>
                <a:cs typeface="Calibri" panose="020F0502020204030204" pitchFamily="34" charset="0"/>
              </a:rPr>
              <a:t>Charts</a:t>
            </a:r>
            <a:endParaRPr lang="en-IN" b="1" dirty="0">
              <a:solidFill>
                <a:srgbClr val="0070C0"/>
              </a:solidFill>
              <a:latin typeface="Calibri" panose="020F0502020204030204" pitchFamily="34" charset="0"/>
              <a:cs typeface="Calibri" panose="020F0502020204030204" pitchFamily="34" charset="0"/>
            </a:endParaRPr>
          </a:p>
        </p:txBody>
      </p:sp>
      <p:sp>
        <p:nvSpPr>
          <p:cNvPr id="9" name="Rectangle 8"/>
          <p:cNvSpPr/>
          <p:nvPr/>
        </p:nvSpPr>
        <p:spPr>
          <a:xfrm>
            <a:off x="106680" y="1410887"/>
            <a:ext cx="11399520" cy="400110"/>
          </a:xfrm>
          <a:prstGeom prst="rect">
            <a:avLst/>
          </a:prstGeom>
        </p:spPr>
        <p:txBody>
          <a:bodyPr wrap="square">
            <a:spAutoFit/>
          </a:bodyPr>
          <a:lstStyle/>
          <a:p>
            <a:r>
              <a:rPr lang="en-IN" sz="2000" b="1" dirty="0">
                <a:solidFill>
                  <a:schemeClr val="accent4">
                    <a:lumMod val="50000"/>
                  </a:schemeClr>
                </a:solidFill>
                <a:latin typeface="Calibri" panose="020F0502020204030204" pitchFamily="34" charset="0"/>
                <a:cs typeface="Calibri" panose="020F0502020204030204" pitchFamily="34" charset="0"/>
              </a:rPr>
              <a:t>Product</a:t>
            </a:r>
            <a:r>
              <a:rPr lang="en-IN" sz="2000" dirty="0">
                <a:solidFill>
                  <a:schemeClr val="accent4">
                    <a:lumMod val="50000"/>
                  </a:schemeClr>
                </a:solidFill>
              </a:rPr>
              <a:t> </a:t>
            </a:r>
            <a:r>
              <a:rPr lang="en-IN" sz="2000" b="1" dirty="0">
                <a:solidFill>
                  <a:schemeClr val="accent4">
                    <a:lumMod val="50000"/>
                  </a:schemeClr>
                </a:solidFill>
                <a:latin typeface="Calibri" panose="020F0502020204030204" pitchFamily="34" charset="0"/>
                <a:cs typeface="Calibri" panose="020F0502020204030204" pitchFamily="34" charset="0"/>
              </a:rPr>
              <a:t>Group-Wise Loan: Categorizes loans by product types (e.g., personal, auto).</a:t>
            </a:r>
          </a:p>
        </p:txBody>
      </p:sp>
      <p:pic>
        <p:nvPicPr>
          <p:cNvPr id="4" name="Picture 3"/>
          <p:cNvPicPr>
            <a:picLocks noChangeAspect="1"/>
          </p:cNvPicPr>
          <p:nvPr/>
        </p:nvPicPr>
        <p:blipFill rotWithShape="1">
          <a:blip r:embed="rId2"/>
          <a:srcRect r="980"/>
          <a:stretch/>
        </p:blipFill>
        <p:spPr>
          <a:xfrm>
            <a:off x="498020" y="1810997"/>
            <a:ext cx="10930231" cy="4759620"/>
          </a:xfrm>
          <a:prstGeom prst="rect">
            <a:avLst/>
          </a:prstGeom>
        </p:spPr>
      </p:pic>
    </p:spTree>
    <p:extLst>
      <p:ext uri="{BB962C8B-B14F-4D97-AF65-F5344CB8AC3E}">
        <p14:creationId xmlns:p14="http://schemas.microsoft.com/office/powerpoint/2010/main" val="2082546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2982" y="19252"/>
            <a:ext cx="8610600" cy="1293028"/>
          </a:xfrm>
        </p:spPr>
        <p:txBody>
          <a:bodyPr/>
          <a:lstStyle/>
          <a:p>
            <a:r>
              <a:rPr lang="en-US" b="1" dirty="0">
                <a:solidFill>
                  <a:srgbClr val="0070C0"/>
                </a:solidFill>
                <a:latin typeface="Calibri" panose="020F0502020204030204" pitchFamily="34" charset="0"/>
                <a:cs typeface="Calibri" panose="020F0502020204030204" pitchFamily="34" charset="0"/>
              </a:rPr>
              <a:t>Charts</a:t>
            </a:r>
            <a:endParaRPr lang="en-IN" b="1" dirty="0">
              <a:solidFill>
                <a:srgbClr val="0070C0"/>
              </a:solidFill>
              <a:latin typeface="Calibri" panose="020F0502020204030204" pitchFamily="34" charset="0"/>
              <a:cs typeface="Calibri" panose="020F0502020204030204" pitchFamily="34" charset="0"/>
            </a:endParaRPr>
          </a:p>
        </p:txBody>
      </p:sp>
      <p:sp>
        <p:nvSpPr>
          <p:cNvPr id="3" name="Rectangle 2"/>
          <p:cNvSpPr/>
          <p:nvPr/>
        </p:nvSpPr>
        <p:spPr>
          <a:xfrm>
            <a:off x="121920" y="1462008"/>
            <a:ext cx="10485120"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Disbursement Trend: Tracks changes in loan disbursements over time.</a:t>
            </a:r>
          </a:p>
        </p:txBody>
      </p:sp>
      <p:pic>
        <p:nvPicPr>
          <p:cNvPr id="5" name="Picture 4"/>
          <p:cNvPicPr>
            <a:picLocks noChangeAspect="1"/>
          </p:cNvPicPr>
          <p:nvPr/>
        </p:nvPicPr>
        <p:blipFill>
          <a:blip r:embed="rId2"/>
          <a:stretch>
            <a:fillRect/>
          </a:stretch>
        </p:blipFill>
        <p:spPr>
          <a:xfrm>
            <a:off x="7086600" y="1770728"/>
            <a:ext cx="5105400" cy="2095500"/>
          </a:xfrm>
          <a:prstGeom prst="rect">
            <a:avLst/>
          </a:prstGeom>
        </p:spPr>
      </p:pic>
      <p:pic>
        <p:nvPicPr>
          <p:cNvPr id="6" name="Picture 5"/>
          <p:cNvPicPr>
            <a:picLocks noChangeAspect="1"/>
          </p:cNvPicPr>
          <p:nvPr/>
        </p:nvPicPr>
        <p:blipFill>
          <a:blip r:embed="rId3"/>
          <a:stretch>
            <a:fillRect/>
          </a:stretch>
        </p:blipFill>
        <p:spPr>
          <a:xfrm>
            <a:off x="317863" y="4259082"/>
            <a:ext cx="4828900" cy="2364951"/>
          </a:xfrm>
          <a:prstGeom prst="rect">
            <a:avLst/>
          </a:prstGeom>
        </p:spPr>
      </p:pic>
      <p:sp>
        <p:nvSpPr>
          <p:cNvPr id="7" name="Rectangle 6"/>
          <p:cNvSpPr/>
          <p:nvPr/>
        </p:nvSpPr>
        <p:spPr>
          <a:xfrm>
            <a:off x="5146763" y="4259083"/>
            <a:ext cx="5460277" cy="369332"/>
          </a:xfrm>
          <a:prstGeom prst="rect">
            <a:avLst/>
          </a:prstGeom>
        </p:spPr>
        <p:txBody>
          <a:bodyPr wrap="none">
            <a:spAutoFit/>
          </a:bodyPr>
          <a:lstStyle/>
          <a:p>
            <a:r>
              <a:rPr lang="en-IN" b="1" dirty="0">
                <a:solidFill>
                  <a:srgbClr val="990099"/>
                </a:solidFill>
                <a:latin typeface="Calibri" panose="020F0502020204030204" pitchFamily="34" charset="0"/>
                <a:cs typeface="Calibri" panose="020F0502020204030204" pitchFamily="34" charset="0"/>
              </a:rPr>
              <a:t>Loan Maturity: Tracks the timeline until full repayment </a:t>
            </a:r>
          </a:p>
        </p:txBody>
      </p:sp>
      <p:sp>
        <p:nvSpPr>
          <p:cNvPr id="4" name="Rectangle 3"/>
          <p:cNvSpPr/>
          <p:nvPr/>
        </p:nvSpPr>
        <p:spPr>
          <a:xfrm>
            <a:off x="317863" y="1981067"/>
            <a:ext cx="6500948" cy="1711366"/>
          </a:xfrm>
          <a:prstGeom prst="rect">
            <a:avLst/>
          </a:prstGeom>
        </p:spPr>
        <p:txBody>
          <a:bodyPr wrap="square">
            <a:spAutoFit/>
          </a:bodyPr>
          <a:lstStyle/>
          <a:p>
            <a:pPr algn="just">
              <a:lnSpc>
                <a:spcPct val="150000"/>
              </a:lnSpc>
            </a:pPr>
            <a:r>
              <a:rPr lang="en-US" b="1" dirty="0">
                <a:latin typeface="Calibri" panose="020F0502020204030204" pitchFamily="34" charset="0"/>
                <a:cs typeface="Calibri" panose="020F0502020204030204" pitchFamily="34" charset="0"/>
              </a:rPr>
              <a:t>Disbursement Trend analysis tracks how loan amounts are distributed over a specific period .</a:t>
            </a:r>
          </a:p>
          <a:p>
            <a:pPr algn="just">
              <a:lnSpc>
                <a:spcPct val="150000"/>
              </a:lnSpc>
            </a:pPr>
            <a:r>
              <a:rPr lang="en-US" b="1" dirty="0">
                <a:latin typeface="Calibri" panose="020F0502020204030204" pitchFamily="34" charset="0"/>
                <a:cs typeface="Calibri" panose="020F0502020204030204" pitchFamily="34" charset="0"/>
              </a:rPr>
              <a:t>It helps stakeholders understand lending patterns, business growth, and seasonal demand for loans.</a:t>
            </a:r>
          </a:p>
        </p:txBody>
      </p:sp>
      <p:sp>
        <p:nvSpPr>
          <p:cNvPr id="8" name="Rectangle 7"/>
          <p:cNvSpPr/>
          <p:nvPr/>
        </p:nvSpPr>
        <p:spPr>
          <a:xfrm>
            <a:off x="5364480" y="4628415"/>
            <a:ext cx="6429102" cy="2169825"/>
          </a:xfrm>
          <a:prstGeom prst="rect">
            <a:avLst/>
          </a:prstGeom>
        </p:spPr>
        <p:txBody>
          <a:bodyPr wrap="square">
            <a:spAutoFit/>
          </a:bodyPr>
          <a:lstStyle/>
          <a:p>
            <a:pPr>
              <a:lnSpc>
                <a:spcPct val="150000"/>
              </a:lnSpc>
            </a:pPr>
            <a:r>
              <a:rPr lang="en-IN" b="1" dirty="0">
                <a:latin typeface="Calibri" panose="020F0502020204030204" pitchFamily="34" charset="0"/>
                <a:cs typeface="Calibri" panose="020F0502020204030204" pitchFamily="34" charset="0"/>
              </a:rPr>
              <a:t>No of terms :</a:t>
            </a:r>
          </a:p>
          <a:p>
            <a:pPr>
              <a:lnSpc>
                <a:spcPct val="150000"/>
              </a:lnSpc>
            </a:pPr>
            <a:r>
              <a:rPr lang="en-IN" b="1" dirty="0">
                <a:latin typeface="Calibri" panose="020F0502020204030204" pitchFamily="34" charset="0"/>
                <a:cs typeface="Calibri" panose="020F0502020204030204" pitchFamily="34" charset="0"/>
              </a:rPr>
              <a:t>INT(SPLIT([Term], " ", 2))</a:t>
            </a:r>
          </a:p>
          <a:p>
            <a:pPr>
              <a:lnSpc>
                <a:spcPct val="150000"/>
              </a:lnSpc>
            </a:pPr>
            <a:endParaRPr lang="en-US" b="1" dirty="0">
              <a:latin typeface="Calibri" panose="020F0502020204030204" pitchFamily="34" charset="0"/>
              <a:cs typeface="Calibri" panose="020F0502020204030204" pitchFamily="34" charset="0"/>
            </a:endParaRPr>
          </a:p>
          <a:p>
            <a:pPr>
              <a:lnSpc>
                <a:spcPct val="150000"/>
              </a:lnSpc>
            </a:pPr>
            <a:r>
              <a:rPr lang="en-IN" b="1" dirty="0">
                <a:latin typeface="Calibri" panose="020F0502020204030204" pitchFamily="34" charset="0"/>
                <a:cs typeface="Calibri" panose="020F0502020204030204" pitchFamily="34" charset="0"/>
              </a:rPr>
              <a:t>Estimated Maturity Date</a:t>
            </a:r>
          </a:p>
          <a:p>
            <a:pPr>
              <a:lnSpc>
                <a:spcPct val="150000"/>
              </a:lnSpc>
            </a:pPr>
            <a:r>
              <a:rPr lang="en-US" b="1" dirty="0">
                <a:latin typeface="Calibri" panose="020F0502020204030204" pitchFamily="34" charset="0"/>
                <a:cs typeface="Calibri" panose="020F0502020204030204" pitchFamily="34" charset="0"/>
              </a:rPr>
              <a:t>DATEADD('month',[No of terms], [Disbursement Date])</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5868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2983" y="385550"/>
            <a:ext cx="8610600" cy="1293028"/>
          </a:xfrm>
        </p:spPr>
        <p:txBody>
          <a:bodyPr/>
          <a:lstStyle/>
          <a:p>
            <a:r>
              <a:rPr lang="en-US" b="1" dirty="0">
                <a:solidFill>
                  <a:srgbClr val="0070C0"/>
                </a:solidFill>
                <a:latin typeface="Calibri" panose="020F0502020204030204" pitchFamily="34" charset="0"/>
                <a:cs typeface="Calibri" panose="020F0502020204030204" pitchFamily="34" charset="0"/>
              </a:rPr>
              <a:t>Charts</a:t>
            </a:r>
            <a:endParaRPr lang="en-IN" b="1" dirty="0">
              <a:solidFill>
                <a:srgbClr val="0070C0"/>
              </a:solidFill>
              <a:latin typeface="Calibri" panose="020F0502020204030204" pitchFamily="34" charset="0"/>
              <a:cs typeface="Calibri" panose="020F0502020204030204" pitchFamily="34" charset="0"/>
            </a:endParaRPr>
          </a:p>
        </p:txBody>
      </p:sp>
      <p:sp>
        <p:nvSpPr>
          <p:cNvPr id="4" name="Rectangle 3"/>
          <p:cNvSpPr/>
          <p:nvPr/>
        </p:nvSpPr>
        <p:spPr>
          <a:xfrm>
            <a:off x="0" y="1472840"/>
            <a:ext cx="10197737"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Grade-Wise Loan: Assesses portfolio risk by borrower credit grades.</a:t>
            </a:r>
          </a:p>
        </p:txBody>
      </p:sp>
      <p:pic>
        <p:nvPicPr>
          <p:cNvPr id="8" name="Picture 7"/>
          <p:cNvPicPr>
            <a:picLocks noChangeAspect="1"/>
          </p:cNvPicPr>
          <p:nvPr/>
        </p:nvPicPr>
        <p:blipFill>
          <a:blip r:embed="rId2"/>
          <a:stretch>
            <a:fillRect/>
          </a:stretch>
        </p:blipFill>
        <p:spPr>
          <a:xfrm>
            <a:off x="6609100" y="1865339"/>
            <a:ext cx="5403262" cy="4757530"/>
          </a:xfrm>
          <a:prstGeom prst="rect">
            <a:avLst/>
          </a:prstGeom>
        </p:spPr>
      </p:pic>
      <p:sp>
        <p:nvSpPr>
          <p:cNvPr id="3" name="Rectangle 2"/>
          <p:cNvSpPr/>
          <p:nvPr/>
        </p:nvSpPr>
        <p:spPr>
          <a:xfrm>
            <a:off x="134983" y="2047910"/>
            <a:ext cx="6096000" cy="3970318"/>
          </a:xfrm>
          <a:prstGeom prst="rect">
            <a:avLst/>
          </a:prstGeom>
        </p:spPr>
        <p:txBody>
          <a:bodyPr>
            <a:spAutoFit/>
          </a:bodyPr>
          <a:lstStyle/>
          <a:p>
            <a:pPr algn="just">
              <a:lnSpc>
                <a:spcPct val="200000"/>
              </a:lnSpc>
            </a:pPr>
            <a:r>
              <a:rPr lang="en-US" b="1" dirty="0">
                <a:latin typeface="Calibri" panose="020F0502020204030204" pitchFamily="34" charset="0"/>
                <a:cs typeface="Calibri" panose="020F0502020204030204" pitchFamily="34" charset="0"/>
              </a:rPr>
              <a:t>Grade-Wise Loan analysis categorizes loans based on borrower credit grades assigned by the bank or lending system.</a:t>
            </a:r>
          </a:p>
          <a:p>
            <a:pPr algn="just">
              <a:lnSpc>
                <a:spcPct val="200000"/>
              </a:lnSpc>
            </a:pPr>
            <a:r>
              <a:rPr lang="en-US" b="1" dirty="0">
                <a:latin typeface="Calibri" panose="020F0502020204030204" pitchFamily="34" charset="0"/>
                <a:cs typeface="Calibri" panose="020F0502020204030204" pitchFamily="34" charset="0"/>
              </a:rPr>
              <a:t>Credit grades indicate the borrower’s creditworthiness and repayment capability. </a:t>
            </a:r>
          </a:p>
          <a:p>
            <a:pPr algn="just">
              <a:lnSpc>
                <a:spcPct val="200000"/>
              </a:lnSpc>
            </a:pPr>
            <a:r>
              <a:rPr lang="en-US" b="1" dirty="0">
                <a:latin typeface="Calibri" panose="020F0502020204030204" pitchFamily="34" charset="0"/>
                <a:cs typeface="Calibri" panose="020F0502020204030204" pitchFamily="34" charset="0"/>
              </a:rPr>
              <a:t>These grades help assess the risk level associated with each loan.</a:t>
            </a:r>
          </a:p>
        </p:txBody>
      </p:sp>
    </p:spTree>
    <p:extLst>
      <p:ext uri="{BB962C8B-B14F-4D97-AF65-F5344CB8AC3E}">
        <p14:creationId xmlns:p14="http://schemas.microsoft.com/office/powerpoint/2010/main" val="2606436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2983" y="385550"/>
            <a:ext cx="8610600" cy="1293028"/>
          </a:xfrm>
        </p:spPr>
        <p:txBody>
          <a:bodyPr/>
          <a:lstStyle/>
          <a:p>
            <a:r>
              <a:rPr lang="en-US" b="1" dirty="0">
                <a:solidFill>
                  <a:srgbClr val="0070C0"/>
                </a:solidFill>
                <a:latin typeface="Calibri" panose="020F0502020204030204" pitchFamily="34" charset="0"/>
                <a:cs typeface="Calibri" panose="020F0502020204030204" pitchFamily="34" charset="0"/>
              </a:rPr>
              <a:t>Charts</a:t>
            </a:r>
            <a:endParaRPr lang="en-IN" b="1" dirty="0">
              <a:solidFill>
                <a:srgbClr val="0070C0"/>
              </a:solidFill>
              <a:latin typeface="Calibri" panose="020F0502020204030204" pitchFamily="34" charset="0"/>
              <a:cs typeface="Calibri" panose="020F0502020204030204" pitchFamily="34" charset="0"/>
            </a:endParaRPr>
          </a:p>
        </p:txBody>
      </p:sp>
      <p:pic>
        <p:nvPicPr>
          <p:cNvPr id="9" name="Picture 8"/>
          <p:cNvPicPr>
            <a:picLocks noChangeAspect="1"/>
          </p:cNvPicPr>
          <p:nvPr/>
        </p:nvPicPr>
        <p:blipFill>
          <a:blip r:embed="rId2"/>
          <a:stretch>
            <a:fillRect/>
          </a:stretch>
        </p:blipFill>
        <p:spPr>
          <a:xfrm>
            <a:off x="740364" y="1817443"/>
            <a:ext cx="3687945" cy="4943626"/>
          </a:xfrm>
          <a:prstGeom prst="rect">
            <a:avLst/>
          </a:prstGeom>
        </p:spPr>
      </p:pic>
      <p:sp>
        <p:nvSpPr>
          <p:cNvPr id="3" name="Rectangle 2"/>
          <p:cNvSpPr/>
          <p:nvPr/>
        </p:nvSpPr>
        <p:spPr>
          <a:xfrm>
            <a:off x="134983" y="1355412"/>
            <a:ext cx="10668000" cy="369332"/>
          </a:xfrm>
          <a:prstGeom prst="rect">
            <a:avLst/>
          </a:prstGeom>
        </p:spPr>
        <p:txBody>
          <a:bodyPr wrap="square">
            <a:spAutoFit/>
          </a:bodyPr>
          <a:lstStyle/>
          <a:p>
            <a:r>
              <a:rPr lang="en-IN" b="1" dirty="0">
                <a:solidFill>
                  <a:srgbClr val="990099"/>
                </a:solidFill>
                <a:latin typeface="Calibri" panose="020F0502020204030204" pitchFamily="34" charset="0"/>
                <a:cs typeface="Calibri" panose="020F0502020204030204" pitchFamily="34" charset="0"/>
              </a:rPr>
              <a:t>Age Group-Wise Loan: Categorizes loans by borrowers’ age groups.</a:t>
            </a:r>
          </a:p>
        </p:txBody>
      </p:sp>
      <p:sp>
        <p:nvSpPr>
          <p:cNvPr id="4" name="Rectangle 3"/>
          <p:cNvSpPr/>
          <p:nvPr/>
        </p:nvSpPr>
        <p:spPr>
          <a:xfrm>
            <a:off x="5524500" y="2052574"/>
            <a:ext cx="6096000" cy="3338735"/>
          </a:xfrm>
          <a:prstGeom prst="rect">
            <a:avLst/>
          </a:prstGeom>
        </p:spPr>
        <p:txBody>
          <a:bodyPr>
            <a:spAutoFit/>
          </a:bodyPr>
          <a:lstStyle/>
          <a:p>
            <a:pPr algn="just">
              <a:lnSpc>
                <a:spcPct val="200000"/>
              </a:lnSpc>
            </a:pPr>
            <a:r>
              <a:rPr lang="en-US" b="1" dirty="0">
                <a:latin typeface="Calibri" panose="020F0502020204030204" pitchFamily="34" charset="0"/>
                <a:cs typeface="Calibri" panose="020F0502020204030204" pitchFamily="34" charset="0"/>
              </a:rPr>
              <a:t>Age</a:t>
            </a:r>
            <a:r>
              <a:rPr lang="en-US" sz="1400" b="1"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Group-Wise Loan analysis categorizes loans based on borrowers’ age groups to understand which age segments borrow the most and how lending behavior varies across different age categories.</a:t>
            </a:r>
          </a:p>
          <a:p>
            <a:pPr algn="just">
              <a:lnSpc>
                <a:spcPct val="200000"/>
              </a:lnSpc>
            </a:pPr>
            <a:r>
              <a:rPr lang="en-US" b="1" dirty="0">
                <a:latin typeface="Calibri" panose="020F0502020204030204" pitchFamily="34" charset="0"/>
                <a:cs typeface="Calibri" panose="020F0502020204030204" pitchFamily="34" charset="0"/>
              </a:rPr>
              <a:t>This helps banks analyze customer demographics and target suitable financial products.</a:t>
            </a:r>
          </a:p>
        </p:txBody>
      </p:sp>
    </p:spTree>
    <p:extLst>
      <p:ext uri="{BB962C8B-B14F-4D97-AF65-F5344CB8AC3E}">
        <p14:creationId xmlns:p14="http://schemas.microsoft.com/office/powerpoint/2010/main" val="924008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0914" y="119445"/>
            <a:ext cx="4305300" cy="1293028"/>
          </a:xfrm>
        </p:spPr>
        <p:txBody>
          <a:bodyPr/>
          <a:lstStyle/>
          <a:p>
            <a:r>
              <a:rPr lang="en-US" b="1" dirty="0">
                <a:solidFill>
                  <a:srgbClr val="0070C0"/>
                </a:solidFill>
                <a:latin typeface="Calibri" panose="020F0502020204030204" pitchFamily="34" charset="0"/>
                <a:cs typeface="Calibri" panose="020F0502020204030204" pitchFamily="34" charset="0"/>
              </a:rPr>
              <a:t>Slicer</a:t>
            </a:r>
            <a:endParaRPr lang="en-IN" b="1" dirty="0">
              <a:solidFill>
                <a:srgbClr val="0070C0"/>
              </a:solidFill>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8134690" y="362522"/>
            <a:ext cx="2766468" cy="3529116"/>
          </a:xfrm>
          <a:prstGeom prst="rect">
            <a:avLst/>
          </a:prstGeom>
        </p:spPr>
      </p:pic>
      <p:sp>
        <p:nvSpPr>
          <p:cNvPr id="3" name="Rectangle 2"/>
          <p:cNvSpPr/>
          <p:nvPr/>
        </p:nvSpPr>
        <p:spPr>
          <a:xfrm>
            <a:off x="7436031" y="3992807"/>
            <a:ext cx="4503420" cy="2585323"/>
          </a:xfrm>
          <a:prstGeom prst="rect">
            <a:avLst/>
          </a:prstGeom>
        </p:spPr>
        <p:txBody>
          <a:bodyPr wrap="square">
            <a:spAutoFit/>
          </a:bodyPr>
          <a:lstStyle/>
          <a:p>
            <a:pPr>
              <a:lnSpc>
                <a:spcPct val="150000"/>
              </a:lnSpc>
            </a:pPr>
            <a:r>
              <a:rPr lang="en-US" b="1" dirty="0">
                <a:latin typeface="Calibri" panose="020F0502020204030204" pitchFamily="34" charset="0"/>
                <a:cs typeface="Calibri" panose="020F0502020204030204" pitchFamily="34" charset="0"/>
              </a:rPr>
              <a:t>This slicer helps stakeholders:</a:t>
            </a:r>
          </a:p>
          <a:p>
            <a:pPr marL="285750" indent="-285750">
              <a:lnSpc>
                <a:spcPct val="150000"/>
              </a:lnSpc>
              <a:buFont typeface="Arial" panose="020B0604020202020204" pitchFamily="34" charset="0"/>
              <a:buChar char="•"/>
            </a:pPr>
            <a:r>
              <a:rPr lang="en-US" b="1" dirty="0">
                <a:latin typeface="Calibri" panose="020F0502020204030204" pitchFamily="34" charset="0"/>
                <a:cs typeface="Calibri" panose="020F0502020204030204" pitchFamily="34" charset="0"/>
              </a:rPr>
              <a:t>Analyze specific loan categories </a:t>
            </a:r>
          </a:p>
          <a:p>
            <a:pPr marL="285750" indent="-285750">
              <a:lnSpc>
                <a:spcPct val="150000"/>
              </a:lnSpc>
              <a:buFont typeface="Arial" panose="020B0604020202020204" pitchFamily="34" charset="0"/>
              <a:buChar char="•"/>
            </a:pPr>
            <a:r>
              <a:rPr lang="en-US" b="1" dirty="0">
                <a:latin typeface="Calibri" panose="020F0502020204030204" pitchFamily="34" charset="0"/>
                <a:cs typeface="Calibri" panose="020F0502020204030204" pitchFamily="34" charset="0"/>
              </a:rPr>
              <a:t>Monitor risky loans like NPA and Write-Off </a:t>
            </a:r>
          </a:p>
          <a:p>
            <a:pPr marL="285750" indent="-285750">
              <a:lnSpc>
                <a:spcPct val="150000"/>
              </a:lnSpc>
              <a:buFont typeface="Arial" panose="020B0604020202020204" pitchFamily="34" charset="0"/>
              <a:buChar char="•"/>
            </a:pPr>
            <a:r>
              <a:rPr lang="en-US" b="1" dirty="0">
                <a:latin typeface="Calibri" panose="020F0502020204030204" pitchFamily="34" charset="0"/>
                <a:cs typeface="Calibri" panose="020F0502020204030204" pitchFamily="34" charset="0"/>
              </a:rPr>
              <a:t>Track active and completed loans </a:t>
            </a:r>
          </a:p>
          <a:p>
            <a:pPr marL="285750" indent="-285750">
              <a:lnSpc>
                <a:spcPct val="150000"/>
              </a:lnSpc>
              <a:buFont typeface="Arial" panose="020B0604020202020204" pitchFamily="34" charset="0"/>
              <a:buChar char="•"/>
            </a:pPr>
            <a:r>
              <a:rPr lang="en-US" b="1" dirty="0">
                <a:latin typeface="Calibri" panose="020F0502020204030204" pitchFamily="34" charset="0"/>
                <a:cs typeface="Calibri" panose="020F0502020204030204" pitchFamily="34" charset="0"/>
              </a:rPr>
              <a:t>Improve loan portfolio analysis </a:t>
            </a:r>
          </a:p>
          <a:p>
            <a:pPr marL="285750" indent="-285750">
              <a:lnSpc>
                <a:spcPct val="150000"/>
              </a:lnSpc>
              <a:buFont typeface="Arial" panose="020B0604020202020204" pitchFamily="34" charset="0"/>
              <a:buChar char="•"/>
            </a:pPr>
            <a:r>
              <a:rPr lang="en-US" b="1" dirty="0">
                <a:latin typeface="Calibri" panose="020F0502020204030204" pitchFamily="34" charset="0"/>
                <a:cs typeface="Calibri" panose="020F0502020204030204" pitchFamily="34" charset="0"/>
              </a:rPr>
              <a:t>Make faster business decisions</a:t>
            </a:r>
          </a:p>
        </p:txBody>
      </p:sp>
      <p:sp>
        <p:nvSpPr>
          <p:cNvPr id="4" name="Rectangle 3"/>
          <p:cNvSpPr/>
          <p:nvPr/>
        </p:nvSpPr>
        <p:spPr>
          <a:xfrm>
            <a:off x="161109" y="1225689"/>
            <a:ext cx="8486502" cy="5632311"/>
          </a:xfrm>
          <a:prstGeom prst="rect">
            <a:avLst/>
          </a:prstGeom>
        </p:spPr>
        <p:txBody>
          <a:bodyPr wrap="square">
            <a:spAutoFit/>
          </a:bodyPr>
          <a:lstStyle/>
          <a:p>
            <a:pPr>
              <a:lnSpc>
                <a:spcPct val="150000"/>
              </a:lnSpc>
              <a:spcBef>
                <a:spcPts val="600"/>
              </a:spcBef>
              <a:spcAft>
                <a:spcPts val="600"/>
              </a:spcAft>
            </a:pPr>
            <a:r>
              <a:rPr lang="en-US" b="1" dirty="0">
                <a:latin typeface="Calibri" panose="020F0502020204030204" pitchFamily="34" charset="0"/>
                <a:cs typeface="Calibri" panose="020F0502020204030204" pitchFamily="34" charset="0"/>
              </a:rPr>
              <a:t>The slicer contains the following loan statuses:</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Active Loan → Loans currently running </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Cancelled → Loans cancelled before completion </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Fully Paid → Loans completely repaid </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Insurance Paid Off → Loans settled through insurance </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Net-Off → Loans adjusted internally by the bank </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NPA (Non-Performing Asset) → Loans with overdue repayments </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Paid Off → Loans successfully closed </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Transferred → Loans transferred to another institution/account </a:t>
            </a:r>
          </a:p>
          <a:p>
            <a:pPr marL="285750" indent="-285750">
              <a:lnSpc>
                <a:spcPct val="150000"/>
              </a:lnSpc>
              <a:spcBef>
                <a:spcPts val="600"/>
              </a:spcBef>
              <a:spcAft>
                <a:spcPts val="600"/>
              </a:spcAft>
              <a:buFont typeface="Arial" panose="020B0604020202020204" pitchFamily="34" charset="0"/>
              <a:buChar char="•"/>
            </a:pPr>
            <a:r>
              <a:rPr lang="en-US" b="1" dirty="0">
                <a:latin typeface="Calibri" panose="020F0502020204030204" pitchFamily="34" charset="0"/>
                <a:cs typeface="Calibri" panose="020F0502020204030204" pitchFamily="34" charset="0"/>
              </a:rPr>
              <a:t>Write Off → Loans considered unrecoverable by the bank</a:t>
            </a:r>
          </a:p>
        </p:txBody>
      </p:sp>
    </p:spTree>
    <p:extLst>
      <p:ext uri="{BB962C8B-B14F-4D97-AF65-F5344CB8AC3E}">
        <p14:creationId xmlns:p14="http://schemas.microsoft.com/office/powerpoint/2010/main" val="1282545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BE5E-A51B-6681-25D0-13C785630BD3}"/>
              </a:ext>
            </a:extLst>
          </p:cNvPr>
          <p:cNvSpPr>
            <a:spLocks noGrp="1"/>
          </p:cNvSpPr>
          <p:nvPr>
            <p:ph type="title"/>
          </p:nvPr>
        </p:nvSpPr>
        <p:spPr>
          <a:xfrm>
            <a:off x="2991853" y="-80245"/>
            <a:ext cx="8610600" cy="1293028"/>
          </a:xfrm>
        </p:spPr>
        <p:txBody>
          <a:bodyPr/>
          <a:lstStyle/>
          <a:p>
            <a:r>
              <a:rPr lang="en-IN" b="1" dirty="0">
                <a:solidFill>
                  <a:srgbClr val="990099"/>
                </a:solidFill>
                <a:latin typeface="Calibri" panose="020F0502020204030204" pitchFamily="34" charset="0"/>
                <a:cs typeface="Calibri" panose="020F0502020204030204" pitchFamily="34" charset="0"/>
              </a:rPr>
              <a:t>EXCEL</a:t>
            </a:r>
            <a:r>
              <a:rPr lang="en-IN" dirty="0"/>
              <a:t> </a:t>
            </a:r>
            <a:r>
              <a:rPr lang="en-IN" b="1" dirty="0">
                <a:solidFill>
                  <a:srgbClr val="990099"/>
                </a:solidFill>
                <a:latin typeface="Calibri" panose="020F0502020204030204" pitchFamily="34" charset="0"/>
                <a:cs typeface="Calibri" panose="020F0502020204030204" pitchFamily="34" charset="0"/>
              </a:rPr>
              <a:t>DASHBOARD</a:t>
            </a:r>
          </a:p>
        </p:txBody>
      </p:sp>
      <p:pic>
        <p:nvPicPr>
          <p:cNvPr id="5" name="Content Placeholder 4">
            <a:extLst>
              <a:ext uri="{FF2B5EF4-FFF2-40B4-BE49-F238E27FC236}">
                <a16:creationId xmlns:a16="http://schemas.microsoft.com/office/drawing/2014/main" id="{AA6A72A7-879B-0364-FB6B-8F1E0D8F6219}"/>
              </a:ext>
            </a:extLst>
          </p:cNvPr>
          <p:cNvPicPr>
            <a:picLocks noGrp="1" noChangeAspect="1"/>
          </p:cNvPicPr>
          <p:nvPr>
            <p:ph idx="1"/>
          </p:nvPr>
        </p:nvPicPr>
        <p:blipFill>
          <a:blip r:embed="rId2"/>
          <a:stretch>
            <a:fillRect/>
          </a:stretch>
        </p:blipFill>
        <p:spPr>
          <a:xfrm>
            <a:off x="193798" y="991402"/>
            <a:ext cx="11866656" cy="5370898"/>
          </a:xfrm>
          <a:prstGeom prst="rect">
            <a:avLst/>
          </a:prstGeom>
        </p:spPr>
      </p:pic>
    </p:spTree>
    <p:extLst>
      <p:ext uri="{BB962C8B-B14F-4D97-AF65-F5344CB8AC3E}">
        <p14:creationId xmlns:p14="http://schemas.microsoft.com/office/powerpoint/2010/main" val="97928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44" t="10803" r="470" b="11875"/>
          <a:stretch/>
        </p:blipFill>
        <p:spPr>
          <a:xfrm>
            <a:off x="163629" y="1084217"/>
            <a:ext cx="11730932" cy="5355084"/>
          </a:xfrm>
          <a:prstGeom prst="rect">
            <a:avLst/>
          </a:prstGeom>
        </p:spPr>
      </p:pic>
      <p:sp>
        <p:nvSpPr>
          <p:cNvPr id="3" name="Title 1"/>
          <p:cNvSpPr txBox="1">
            <a:spLocks/>
          </p:cNvSpPr>
          <p:nvPr/>
        </p:nvSpPr>
        <p:spPr>
          <a:xfrm>
            <a:off x="6622181" y="195073"/>
            <a:ext cx="5186088" cy="1293028"/>
          </a:xfrm>
          <a:prstGeom prst="rect">
            <a:avLst/>
          </a:prstGeom>
        </p:spPr>
        <p:txBody>
          <a:bodyPr/>
          <a:lst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a:lstStyle>
          <a:p>
            <a:r>
              <a:rPr lang="en-US" b="1" dirty="0">
                <a:solidFill>
                  <a:srgbClr val="990099"/>
                </a:solidFill>
                <a:latin typeface="Calibri" panose="020F0502020204030204" pitchFamily="34" charset="0"/>
                <a:cs typeface="Calibri" panose="020F0502020204030204" pitchFamily="34" charset="0"/>
              </a:rPr>
              <a:t>Tableau Dashboard</a:t>
            </a:r>
            <a:endParaRPr lang="en-IN" b="1" dirty="0">
              <a:solidFill>
                <a:srgbClr val="990099"/>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92792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1F6B0-C0B2-0F21-0484-2FDB4E77C9A2}"/>
              </a:ext>
            </a:extLst>
          </p:cNvPr>
          <p:cNvSpPr>
            <a:spLocks noGrp="1"/>
          </p:cNvSpPr>
          <p:nvPr>
            <p:ph type="title"/>
          </p:nvPr>
        </p:nvSpPr>
        <p:spPr>
          <a:xfrm>
            <a:off x="3122596" y="-6752"/>
            <a:ext cx="8610600" cy="1293028"/>
          </a:xfrm>
        </p:spPr>
        <p:txBody>
          <a:bodyPr/>
          <a:lstStyle/>
          <a:p>
            <a:r>
              <a:rPr lang="en-IN" b="1" dirty="0">
                <a:solidFill>
                  <a:srgbClr val="990099"/>
                </a:solidFill>
                <a:latin typeface="Calibri" panose="020F0502020204030204" pitchFamily="34" charset="0"/>
                <a:cs typeface="Calibri" panose="020F0502020204030204" pitchFamily="34" charset="0"/>
              </a:rPr>
              <a:t>POWER</a:t>
            </a:r>
            <a:r>
              <a:rPr lang="en-IN" dirty="0"/>
              <a:t> </a:t>
            </a:r>
            <a:r>
              <a:rPr lang="en-IN" b="1" dirty="0">
                <a:solidFill>
                  <a:srgbClr val="990099"/>
                </a:solidFill>
                <a:latin typeface="Calibri" panose="020F0502020204030204" pitchFamily="34" charset="0"/>
                <a:cs typeface="Calibri" panose="020F0502020204030204" pitchFamily="34" charset="0"/>
              </a:rPr>
              <a:t>BI</a:t>
            </a:r>
            <a:r>
              <a:rPr lang="en-IN" dirty="0"/>
              <a:t> </a:t>
            </a:r>
            <a:r>
              <a:rPr lang="en-IN" b="1" dirty="0">
                <a:solidFill>
                  <a:srgbClr val="990099"/>
                </a:solidFill>
                <a:latin typeface="Calibri" panose="020F0502020204030204" pitchFamily="34" charset="0"/>
                <a:cs typeface="Calibri" panose="020F0502020204030204" pitchFamily="34" charset="0"/>
              </a:rPr>
              <a:t>DASHBOARD</a:t>
            </a:r>
          </a:p>
        </p:txBody>
      </p:sp>
      <p:pic>
        <p:nvPicPr>
          <p:cNvPr id="5" name="Content Placeholder 4">
            <a:extLst>
              <a:ext uri="{FF2B5EF4-FFF2-40B4-BE49-F238E27FC236}">
                <a16:creationId xmlns:a16="http://schemas.microsoft.com/office/drawing/2014/main" id="{12CAD646-6B20-BD9D-A239-180265E7ACB6}"/>
              </a:ext>
            </a:extLst>
          </p:cNvPr>
          <p:cNvPicPr>
            <a:picLocks noGrp="1" noChangeAspect="1"/>
          </p:cNvPicPr>
          <p:nvPr>
            <p:ph idx="1"/>
          </p:nvPr>
        </p:nvPicPr>
        <p:blipFill>
          <a:blip r:embed="rId2"/>
          <a:stretch>
            <a:fillRect/>
          </a:stretch>
        </p:blipFill>
        <p:spPr>
          <a:xfrm>
            <a:off x="163629" y="1058780"/>
            <a:ext cx="11848699" cy="5799220"/>
          </a:xfrm>
        </p:spPr>
      </p:pic>
    </p:spTree>
    <p:extLst>
      <p:ext uri="{BB962C8B-B14F-4D97-AF65-F5344CB8AC3E}">
        <p14:creationId xmlns:p14="http://schemas.microsoft.com/office/powerpoint/2010/main" val="3200140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3865" y="1270362"/>
            <a:ext cx="9252993" cy="5199006"/>
          </a:xfrm>
          <a:prstGeom prst="rect">
            <a:avLst/>
          </a:prstGeom>
        </p:spPr>
      </p:pic>
    </p:spTree>
    <p:extLst>
      <p:ext uri="{BB962C8B-B14F-4D97-AF65-F5344CB8AC3E}">
        <p14:creationId xmlns:p14="http://schemas.microsoft.com/office/powerpoint/2010/main" val="2441385925"/>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10EE66-8707-456F-8F2E-091D581CB03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0BEB954-4024-4CCF-A9D6-4C00FDC028D9}">
  <ds:schemaRefs>
    <ds:schemaRef ds:uri="http://schemas.microsoft.com/sharepoint/v3/contenttype/forms"/>
  </ds:schemaRefs>
</ds:datastoreItem>
</file>

<file path=customXml/itemProps3.xml><?xml version="1.0" encoding="utf-8"?>
<ds:datastoreItem xmlns:ds="http://schemas.openxmlformats.org/officeDocument/2006/customXml" ds:itemID="{AB96CC85-5758-41C0-8EFD-737AFB6912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TM04033937[[fn=Vapor Trail]]</Template>
  <TotalTime>0</TotalTime>
  <Words>1274</Words>
  <Application>Microsoft Office PowerPoint</Application>
  <PresentationFormat>Widescreen</PresentationFormat>
  <Paragraphs>125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Century Gothic</vt:lpstr>
      <vt:lpstr>Vapor Trail</vt:lpstr>
      <vt:lpstr>Bank Analytics Analytics for Stakeholders</vt:lpstr>
      <vt:lpstr>Objective</vt:lpstr>
      <vt:lpstr>Problem Statement</vt:lpstr>
      <vt:lpstr>Data Cleaning Steps</vt:lpstr>
      <vt:lpstr>Calculated Field</vt:lpstr>
      <vt:lpstr>Calculated Field</vt:lpstr>
      <vt:lpstr>Calculated Field</vt:lpstr>
      <vt:lpstr>Charts</vt:lpstr>
      <vt:lpstr>Charts</vt:lpstr>
      <vt:lpstr>Charts</vt:lpstr>
      <vt:lpstr>Charts</vt:lpstr>
      <vt:lpstr>Charts</vt:lpstr>
      <vt:lpstr>Charts</vt:lpstr>
      <vt:lpstr>Slicer</vt:lpstr>
      <vt:lpstr>EXCEL DASHBOARD</vt:lpstr>
      <vt:lpstr>PowerPoint Presentation</vt:lpstr>
      <vt:lpstr>POWER BI DASHBOARD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2026-05-22T03:55:29Z</dcterms:created>
  <dcterms:modified xsi:type="dcterms:W3CDTF">2026-10-05T05:28:40Z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